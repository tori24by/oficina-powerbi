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</p:sldIdLst>
  <p:sldSz cx="18288000" cy="10287000"/>
  <p:notesSz cx="6858000" cy="9144000"/>
  <p:embeddedFontLst>
    <p:embeddedFont>
      <p:font typeface="HK Grotesk" panose="020B0604020202020204" charset="0"/>
      <p:regular r:id="rId31"/>
    </p:embeddedFont>
    <p:embeddedFont>
      <p:font typeface="HK Grotesk Bold" panose="020B0604020202020204" charset="0"/>
      <p:regular r:id="rId32"/>
    </p:embeddedFont>
    <p:embeddedFont>
      <p:font typeface="HK Grotesk Bold Italics" panose="020B0604020202020204" charset="0"/>
      <p:regular r:id="rId33"/>
    </p:embeddedFont>
    <p:embeddedFont>
      <p:font typeface="HK Grotesk Light" panose="020B0604020202020204" charset="0"/>
      <p:regular r:id="rId34"/>
    </p:embeddedFont>
    <p:embeddedFont>
      <p:font typeface="Libre Franklin" pitchFamily="2" charset="0"/>
      <p:regular r:id="rId35"/>
    </p:embeddedFont>
    <p:embeddedFont>
      <p:font typeface="Libre Franklin Bold" panose="020B0604020202020204" charset="0"/>
      <p:regular r:id="rId36"/>
    </p:embeddedFont>
    <p:embeddedFont>
      <p:font typeface="Open Sauce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502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ória De Lima Boin" userId="cef1f4b9398702fc" providerId="LiveId" clId="{62E15A0B-A19F-428B-AA6F-9CC2E8C9071D}"/>
    <pc:docChg chg="undo custSel delSld modSld">
      <pc:chgData name="Vitória De Lima Boin" userId="cef1f4b9398702fc" providerId="LiveId" clId="{62E15A0B-A19F-428B-AA6F-9CC2E8C9071D}" dt="2026-10-01T22:39:21.880" v="36" actId="2696"/>
      <pc:docMkLst>
        <pc:docMk/>
      </pc:docMkLst>
      <pc:sldChg chg="delSp modSp mod">
        <pc:chgData name="Vitória De Lima Boin" userId="cef1f4b9398702fc" providerId="LiveId" clId="{62E15A0B-A19F-428B-AA6F-9CC2E8C9071D}" dt="2026-10-01T22:37:53.390" v="2" actId="1076"/>
        <pc:sldMkLst>
          <pc:docMk/>
          <pc:sldMk cId="0" sldId="282"/>
        </pc:sldMkLst>
        <pc:spChg chg="mod">
          <ac:chgData name="Vitória De Lima Boin" userId="cef1f4b9398702fc" providerId="LiveId" clId="{62E15A0B-A19F-428B-AA6F-9CC2E8C9071D}" dt="2026-10-01T22:37:53.390" v="2" actId="1076"/>
          <ac:spMkLst>
            <pc:docMk/>
            <pc:sldMk cId="0" sldId="282"/>
            <ac:spMk id="7" creationId="{00000000-0000-0000-0000-000000000000}"/>
          </ac:spMkLst>
        </pc:spChg>
        <pc:spChg chg="mod">
          <ac:chgData name="Vitória De Lima Boin" userId="cef1f4b9398702fc" providerId="LiveId" clId="{62E15A0B-A19F-428B-AA6F-9CC2E8C9071D}" dt="2026-10-01T22:37:48.887" v="1" actId="1076"/>
          <ac:spMkLst>
            <pc:docMk/>
            <pc:sldMk cId="0" sldId="282"/>
            <ac:spMk id="8" creationId="{00000000-0000-0000-0000-000000000000}"/>
          </ac:spMkLst>
        </pc:spChg>
        <pc:spChg chg="del">
          <ac:chgData name="Vitória De Lima Boin" userId="cef1f4b9398702fc" providerId="LiveId" clId="{62E15A0B-A19F-428B-AA6F-9CC2E8C9071D}" dt="2026-10-01T22:37:43.981" v="0" actId="478"/>
          <ac:spMkLst>
            <pc:docMk/>
            <pc:sldMk cId="0" sldId="282"/>
            <ac:spMk id="12" creationId="{00000000-0000-0000-0000-000000000000}"/>
          </ac:spMkLst>
        </pc:spChg>
      </pc:sldChg>
      <pc:sldChg chg="modSp mod">
        <pc:chgData name="Vitória De Lima Boin" userId="cef1f4b9398702fc" providerId="LiveId" clId="{62E15A0B-A19F-428B-AA6F-9CC2E8C9071D}" dt="2026-10-01T22:39:02.451" v="35" actId="20577"/>
        <pc:sldMkLst>
          <pc:docMk/>
          <pc:sldMk cId="0" sldId="283"/>
        </pc:sldMkLst>
        <pc:spChg chg="mod">
          <ac:chgData name="Vitória De Lima Boin" userId="cef1f4b9398702fc" providerId="LiveId" clId="{62E15A0B-A19F-428B-AA6F-9CC2E8C9071D}" dt="2026-10-01T22:39:02.451" v="35" actId="20577"/>
          <ac:spMkLst>
            <pc:docMk/>
            <pc:sldMk cId="0" sldId="283"/>
            <ac:spMk id="7" creationId="{00000000-0000-0000-0000-000000000000}"/>
          </ac:spMkLst>
        </pc:spChg>
        <pc:spChg chg="mod">
          <ac:chgData name="Vitória De Lima Boin" userId="cef1f4b9398702fc" providerId="LiveId" clId="{62E15A0B-A19F-428B-AA6F-9CC2E8C9071D}" dt="2026-10-01T22:38:40.320" v="31" actId="20577"/>
          <ac:spMkLst>
            <pc:docMk/>
            <pc:sldMk cId="0" sldId="283"/>
            <ac:spMk id="8" creationId="{00000000-0000-0000-0000-000000000000}"/>
          </ac:spMkLst>
        </pc:spChg>
      </pc:sldChg>
      <pc:sldChg chg="del">
        <pc:chgData name="Vitória De Lima Boin" userId="cef1f4b9398702fc" providerId="LiveId" clId="{62E15A0B-A19F-428B-AA6F-9CC2E8C9071D}" dt="2026-10-01T22:39:21.880" v="36" actId="2696"/>
        <pc:sldMkLst>
          <pc:docMk/>
          <pc:sldMk cId="0" sldId="28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616493">
            <a:off x="-2292032" y="2229992"/>
            <a:ext cx="12937834" cy="12917134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5400000">
            <a:off x="8009230" y="8230"/>
            <a:ext cx="10287000" cy="10270541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520981" y="2846730"/>
            <a:ext cx="3767019" cy="7513339"/>
            <a:chOff x="0" y="0"/>
            <a:chExt cx="5022691" cy="10017785"/>
          </a:xfrm>
        </p:grpSpPr>
        <p:sp>
          <p:nvSpPr>
            <p:cNvPr id="7" name="Freeform 7"/>
            <p:cNvSpPr/>
            <p:nvPr/>
          </p:nvSpPr>
          <p:spPr>
            <a:xfrm rot="-10800000">
              <a:off x="0" y="0"/>
              <a:ext cx="5022691" cy="5022691"/>
            </a:xfrm>
            <a:custGeom>
              <a:avLst/>
              <a:gdLst/>
              <a:ahLst/>
              <a:cxnLst/>
              <a:rect l="l" t="t" r="r" b="b"/>
              <a:pathLst>
                <a:path w="5022691" h="5022691">
                  <a:moveTo>
                    <a:pt x="0" y="0"/>
                  </a:moveTo>
                  <a:lnTo>
                    <a:pt x="5022691" y="0"/>
                  </a:lnTo>
                  <a:lnTo>
                    <a:pt x="5022691" y="5022691"/>
                  </a:lnTo>
                  <a:lnTo>
                    <a:pt x="0" y="502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Freeform 8"/>
            <p:cNvSpPr/>
            <p:nvPr/>
          </p:nvSpPr>
          <p:spPr>
            <a:xfrm rot="-10800000" flipV="1">
              <a:off x="0" y="4995093"/>
              <a:ext cx="5022691" cy="5022691"/>
            </a:xfrm>
            <a:custGeom>
              <a:avLst/>
              <a:gdLst/>
              <a:ahLst/>
              <a:cxnLst/>
              <a:rect l="l" t="t" r="r" b="b"/>
              <a:pathLst>
                <a:path w="5022691" h="5022691">
                  <a:moveTo>
                    <a:pt x="0" y="5022692"/>
                  </a:moveTo>
                  <a:lnTo>
                    <a:pt x="5022691" y="5022692"/>
                  </a:lnTo>
                  <a:lnTo>
                    <a:pt x="5022691" y="0"/>
                  </a:lnTo>
                  <a:lnTo>
                    <a:pt x="0" y="0"/>
                  </a:lnTo>
                  <a:lnTo>
                    <a:pt x="0" y="5022692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6200" y="1758225"/>
            <a:ext cx="9721850" cy="5415915"/>
            <a:chOff x="0" y="0"/>
            <a:chExt cx="12962467" cy="722122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333376"/>
              <a:ext cx="12962467" cy="4350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089"/>
                </a:lnSpc>
              </a:pPr>
              <a:r>
                <a:rPr lang="en-US" sz="12999" b="1" spc="-259">
                  <a:solidFill>
                    <a:srgbClr val="1E1E1E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Oficina Power BI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5027930"/>
              <a:ext cx="12962467" cy="21932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19"/>
                </a:lnSpc>
                <a:spcBef>
                  <a:spcPct val="0"/>
                </a:spcBef>
              </a:pPr>
              <a:r>
                <a:rPr lang="en-US" sz="4800" b="1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Transforme dados em decisões estratégicas.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0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402882" y="1386831"/>
            <a:ext cx="3767019" cy="7513339"/>
            <a:chOff x="0" y="0"/>
            <a:chExt cx="5022691" cy="10017785"/>
          </a:xfrm>
        </p:grpSpPr>
        <p:sp>
          <p:nvSpPr>
            <p:cNvPr id="3" name="Freeform 3"/>
            <p:cNvSpPr/>
            <p:nvPr/>
          </p:nvSpPr>
          <p:spPr>
            <a:xfrm rot="-10800000">
              <a:off x="0" y="0"/>
              <a:ext cx="5022691" cy="5022691"/>
            </a:xfrm>
            <a:custGeom>
              <a:avLst/>
              <a:gdLst/>
              <a:ahLst/>
              <a:cxnLst/>
              <a:rect l="l" t="t" r="r" b="b"/>
              <a:pathLst>
                <a:path w="5022691" h="5022691">
                  <a:moveTo>
                    <a:pt x="0" y="0"/>
                  </a:moveTo>
                  <a:lnTo>
                    <a:pt x="5022691" y="0"/>
                  </a:lnTo>
                  <a:lnTo>
                    <a:pt x="5022691" y="5022691"/>
                  </a:lnTo>
                  <a:lnTo>
                    <a:pt x="0" y="5022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Freeform 4"/>
            <p:cNvSpPr/>
            <p:nvPr/>
          </p:nvSpPr>
          <p:spPr>
            <a:xfrm rot="-10800000" flipV="1">
              <a:off x="0" y="4995093"/>
              <a:ext cx="5022691" cy="5022691"/>
            </a:xfrm>
            <a:custGeom>
              <a:avLst/>
              <a:gdLst/>
              <a:ahLst/>
              <a:cxnLst/>
              <a:rect l="l" t="t" r="r" b="b"/>
              <a:pathLst>
                <a:path w="5022691" h="5022691">
                  <a:moveTo>
                    <a:pt x="0" y="5022692"/>
                  </a:moveTo>
                  <a:lnTo>
                    <a:pt x="5022691" y="5022692"/>
                  </a:lnTo>
                  <a:lnTo>
                    <a:pt x="5022691" y="0"/>
                  </a:lnTo>
                  <a:lnTo>
                    <a:pt x="0" y="0"/>
                  </a:lnTo>
                  <a:lnTo>
                    <a:pt x="0" y="5022692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" name="Group 5"/>
          <p:cNvGrpSpPr/>
          <p:nvPr/>
        </p:nvGrpSpPr>
        <p:grpSpPr>
          <a:xfrm rot="-4254761">
            <a:off x="9776701" y="3820758"/>
            <a:ext cx="9609403" cy="9594028"/>
            <a:chOff x="0" y="0"/>
            <a:chExt cx="6350000" cy="6339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0088" y="0"/>
            <a:ext cx="18468177" cy="704850"/>
            <a:chOff x="0" y="0"/>
            <a:chExt cx="6186311" cy="2361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86311" cy="236105"/>
            </a:xfrm>
            <a:custGeom>
              <a:avLst/>
              <a:gdLst/>
              <a:ahLst/>
              <a:cxnLst/>
              <a:rect l="l" t="t" r="r" b="b"/>
              <a:pathLst>
                <a:path w="6186311" h="236105">
                  <a:moveTo>
                    <a:pt x="0" y="0"/>
                  </a:moveTo>
                  <a:lnTo>
                    <a:pt x="6186311" y="0"/>
                  </a:lnTo>
                  <a:lnTo>
                    <a:pt x="6186311" y="236105"/>
                  </a:lnTo>
                  <a:lnTo>
                    <a:pt x="0" y="236105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632416" y="1460812"/>
            <a:ext cx="962710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A Jornada de Hoje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32416" y="3343011"/>
            <a:ext cx="1171823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01. Fundamentos &amp; Ecossistema: O papel do Power BI na tomada de decisão.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32416" y="4038336"/>
            <a:ext cx="1171823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02. Planejamento: Como desenhar a solução antes de abrir o software.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32416" y="4733661"/>
            <a:ext cx="1171823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03. ETL e Power Query: A arte de importar e limpar os dados.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32416" y="5428986"/>
            <a:ext cx="1171823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04. Modelagem &amp; DAX: Criando relacionamentos e a inteligência do painel.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32416" y="6124311"/>
            <a:ext cx="1171823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05. Design &amp; Storytelling: Como apresentar os dados de forma clara.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32416" y="6819636"/>
            <a:ext cx="1171823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06. Mão na Massa: Nosso desafio prático.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6693188">
            <a:off x="10509406" y="-10810403"/>
            <a:ext cx="7392991" cy="18767283"/>
            <a:chOff x="0" y="0"/>
            <a:chExt cx="2354580" cy="59771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5977157"/>
            </a:xfrm>
            <a:custGeom>
              <a:avLst/>
              <a:gdLst/>
              <a:ahLst/>
              <a:cxnLst/>
              <a:rect l="l" t="t" r="r" b="b"/>
              <a:pathLst>
                <a:path w="2353310" h="5977157">
                  <a:moveTo>
                    <a:pt x="784860" y="5909847"/>
                  </a:moveTo>
                  <a:cubicBezTo>
                    <a:pt x="905510" y="5950487"/>
                    <a:pt x="1042670" y="5977157"/>
                    <a:pt x="1177290" y="5977157"/>
                  </a:cubicBezTo>
                  <a:cubicBezTo>
                    <a:pt x="1311910" y="5977157"/>
                    <a:pt x="1441450" y="5954297"/>
                    <a:pt x="1560830" y="5913657"/>
                  </a:cubicBezTo>
                  <a:cubicBezTo>
                    <a:pt x="1563370" y="5912387"/>
                    <a:pt x="1565910" y="5912387"/>
                    <a:pt x="1568450" y="5911117"/>
                  </a:cubicBezTo>
                  <a:cubicBezTo>
                    <a:pt x="2016760" y="5748557"/>
                    <a:pt x="2346960" y="5319297"/>
                    <a:pt x="2353310" y="480808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804422"/>
                  </a:lnTo>
                  <a:cubicBezTo>
                    <a:pt x="6350" y="5321837"/>
                    <a:pt x="331470" y="5751097"/>
                    <a:pt x="784860" y="5909847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1080653">
            <a:off x="15938772" y="670890"/>
            <a:ext cx="6826178" cy="15690294"/>
            <a:chOff x="0" y="0"/>
            <a:chExt cx="2354580" cy="54121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53310" cy="5412114"/>
            </a:xfrm>
            <a:custGeom>
              <a:avLst/>
              <a:gdLst/>
              <a:ahLst/>
              <a:cxnLst/>
              <a:rect l="l" t="t" r="r" b="b"/>
              <a:pathLst>
                <a:path w="2353310" h="5412114">
                  <a:moveTo>
                    <a:pt x="784860" y="5344804"/>
                  </a:moveTo>
                  <a:cubicBezTo>
                    <a:pt x="905510" y="5385444"/>
                    <a:pt x="1042670" y="5412114"/>
                    <a:pt x="1177290" y="5412114"/>
                  </a:cubicBezTo>
                  <a:cubicBezTo>
                    <a:pt x="1311910" y="5412114"/>
                    <a:pt x="1441450" y="5389254"/>
                    <a:pt x="1560830" y="5348614"/>
                  </a:cubicBezTo>
                  <a:cubicBezTo>
                    <a:pt x="1563370" y="5347344"/>
                    <a:pt x="1565910" y="5347344"/>
                    <a:pt x="1568450" y="5346074"/>
                  </a:cubicBezTo>
                  <a:cubicBezTo>
                    <a:pt x="2016760" y="5183514"/>
                    <a:pt x="2346960" y="4754254"/>
                    <a:pt x="2353310" y="4244779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241552"/>
                  </a:lnTo>
                  <a:cubicBezTo>
                    <a:pt x="6350" y="4756794"/>
                    <a:pt x="331470" y="5186054"/>
                    <a:pt x="784860" y="534480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73017" y="3061648"/>
            <a:ext cx="14288991" cy="4590025"/>
            <a:chOff x="0" y="0"/>
            <a:chExt cx="19051989" cy="6120033"/>
          </a:xfrm>
        </p:grpSpPr>
        <p:sp>
          <p:nvSpPr>
            <p:cNvPr id="7" name="TextBox 7"/>
            <p:cNvSpPr txBox="1"/>
            <p:nvPr/>
          </p:nvSpPr>
          <p:spPr>
            <a:xfrm>
              <a:off x="375388" y="5476143"/>
              <a:ext cx="17377179" cy="643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094"/>
                </a:lnSpc>
                <a:spcBef>
                  <a:spcPct val="0"/>
                </a:spcBef>
              </a:pPr>
              <a:r>
                <a:rPr lang="en-US" sz="2925" b="1">
                  <a:solidFill>
                    <a:srgbClr val="FFD034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</a:t>
              </a:r>
              <a:r>
                <a:rPr lang="en-US" sz="2925" b="1" u="none">
                  <a:solidFill>
                    <a:srgbClr val="FFD034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enos achismo, mais informação!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9051989" cy="5029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929"/>
                </a:lnSpc>
                <a:spcBef>
                  <a:spcPct val="0"/>
                </a:spcBef>
              </a:pPr>
              <a:r>
                <a:rPr lang="en-US" sz="8274" b="1">
                  <a:solidFill>
                    <a:srgbClr val="000000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“Pegue os dados. Encontre os padrões. Conte a história. Apoie a decisão.”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741398">
            <a:off x="10664758" y="-2664614"/>
            <a:ext cx="682527" cy="8284187"/>
            <a:chOff x="0" y="0"/>
            <a:chExt cx="2354580" cy="285787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28578789"/>
            </a:xfrm>
            <a:custGeom>
              <a:avLst/>
              <a:gdLst/>
              <a:ahLst/>
              <a:cxnLst/>
              <a:rect l="l" t="t" r="r" b="b"/>
              <a:pathLst>
                <a:path w="2353310" h="28578789">
                  <a:moveTo>
                    <a:pt x="784860" y="28511478"/>
                  </a:moveTo>
                  <a:cubicBezTo>
                    <a:pt x="905510" y="28552118"/>
                    <a:pt x="1042670" y="28578789"/>
                    <a:pt x="1177290" y="28578789"/>
                  </a:cubicBezTo>
                  <a:cubicBezTo>
                    <a:pt x="1311910" y="28578789"/>
                    <a:pt x="1441450" y="28555928"/>
                    <a:pt x="1560830" y="28515289"/>
                  </a:cubicBezTo>
                  <a:cubicBezTo>
                    <a:pt x="1563370" y="28514018"/>
                    <a:pt x="1565910" y="28514018"/>
                    <a:pt x="1568450" y="28512746"/>
                  </a:cubicBezTo>
                  <a:cubicBezTo>
                    <a:pt x="2016760" y="28350189"/>
                    <a:pt x="2346960" y="27920928"/>
                    <a:pt x="2353310" y="2734017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7319123"/>
                  </a:lnTo>
                  <a:cubicBezTo>
                    <a:pt x="6350" y="27923468"/>
                    <a:pt x="331470" y="28352728"/>
                    <a:pt x="784860" y="2851147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6689207">
            <a:off x="11263159" y="-538177"/>
            <a:ext cx="682527" cy="16959970"/>
            <a:chOff x="0" y="0"/>
            <a:chExt cx="2354580" cy="585085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53310" cy="58508503"/>
            </a:xfrm>
            <a:custGeom>
              <a:avLst/>
              <a:gdLst/>
              <a:ahLst/>
              <a:cxnLst/>
              <a:rect l="l" t="t" r="r" b="b"/>
              <a:pathLst>
                <a:path w="2353310" h="58508503">
                  <a:moveTo>
                    <a:pt x="784860" y="58441196"/>
                  </a:moveTo>
                  <a:cubicBezTo>
                    <a:pt x="905510" y="58481832"/>
                    <a:pt x="1042670" y="58508503"/>
                    <a:pt x="1177290" y="58508503"/>
                  </a:cubicBezTo>
                  <a:cubicBezTo>
                    <a:pt x="1311910" y="58508503"/>
                    <a:pt x="1441450" y="58485646"/>
                    <a:pt x="1560830" y="58445003"/>
                  </a:cubicBezTo>
                  <a:cubicBezTo>
                    <a:pt x="1563370" y="58443732"/>
                    <a:pt x="1565910" y="58443732"/>
                    <a:pt x="1568450" y="58442461"/>
                  </a:cubicBezTo>
                  <a:cubicBezTo>
                    <a:pt x="2016760" y="58279903"/>
                    <a:pt x="2346960" y="57850646"/>
                    <a:pt x="2353310" y="57177800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57133722"/>
                  </a:lnTo>
                  <a:cubicBezTo>
                    <a:pt x="6350" y="57853182"/>
                    <a:pt x="331470" y="58282446"/>
                    <a:pt x="784860" y="58441196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4110792">
            <a:off x="9293480" y="2665973"/>
            <a:ext cx="682527" cy="12102375"/>
            <a:chOff x="0" y="0"/>
            <a:chExt cx="2354580" cy="417507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53310" cy="41750769"/>
            </a:xfrm>
            <a:custGeom>
              <a:avLst/>
              <a:gdLst/>
              <a:ahLst/>
              <a:cxnLst/>
              <a:rect l="l" t="t" r="r" b="b"/>
              <a:pathLst>
                <a:path w="2353310" h="41750769">
                  <a:moveTo>
                    <a:pt x="784860" y="41683462"/>
                  </a:moveTo>
                  <a:cubicBezTo>
                    <a:pt x="905510" y="41724101"/>
                    <a:pt x="1042670" y="41750769"/>
                    <a:pt x="1177290" y="41750769"/>
                  </a:cubicBezTo>
                  <a:cubicBezTo>
                    <a:pt x="1311910" y="41750769"/>
                    <a:pt x="1441450" y="41727912"/>
                    <a:pt x="1560830" y="41687269"/>
                  </a:cubicBezTo>
                  <a:cubicBezTo>
                    <a:pt x="1563370" y="41686001"/>
                    <a:pt x="1565910" y="41686001"/>
                    <a:pt x="1568450" y="41684730"/>
                  </a:cubicBezTo>
                  <a:cubicBezTo>
                    <a:pt x="2016760" y="41522169"/>
                    <a:pt x="2346960" y="41092912"/>
                    <a:pt x="2353310" y="40471626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0440446"/>
                  </a:lnTo>
                  <a:cubicBezTo>
                    <a:pt x="6350" y="41095451"/>
                    <a:pt x="331470" y="41524712"/>
                    <a:pt x="784860" y="41683462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88584" y="4285138"/>
            <a:ext cx="1597071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 spc="-139">
                <a:solidFill>
                  <a:srgbClr val="FFD034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Fundamentos &amp; Ecossistema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8584" y="5421145"/>
            <a:ext cx="15970716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 b="1" spc="-100">
                <a:solidFill>
                  <a:srgbClr val="FFFFFF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 </a:t>
            </a:r>
            <a:r>
              <a:rPr lang="en-US" sz="5000" spc="-1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 papel do Power BI na tomada de decisão.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254761">
            <a:off x="9898386" y="3820758"/>
            <a:ext cx="9609403" cy="9594028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473854" y="642938"/>
            <a:ext cx="1596834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20"/>
              </a:lnSpc>
              <a:spcBef>
                <a:spcPct val="0"/>
              </a:spcBef>
            </a:pPr>
            <a:r>
              <a:rPr lang="en-US" sz="5100" b="1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O</a:t>
            </a:r>
            <a:r>
              <a:rPr lang="en-US" sz="5100" b="1" u="none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que é o Power BI?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73854" y="3128946"/>
            <a:ext cx="15340292" cy="461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94"/>
              </a:lnSpc>
            </a:pPr>
            <a:r>
              <a:rPr lang="en-US" sz="2925">
                <a:solidFill>
                  <a:srgbClr val="535151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Você tem dados, planilhas e informações espalhadas por vários lugares, mas tem dificuldade de enxergar o que realmente está acontecendo?</a:t>
            </a:r>
          </a:p>
          <a:p>
            <a:pPr algn="just">
              <a:lnSpc>
                <a:spcPts val="4094"/>
              </a:lnSpc>
            </a:pPr>
            <a:endParaRPr lang="en-US" sz="2925">
              <a:solidFill>
                <a:srgbClr val="535151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  <a:p>
            <a:pPr algn="just">
              <a:lnSpc>
                <a:spcPts val="4094"/>
              </a:lnSpc>
            </a:pPr>
            <a:r>
              <a:rPr lang="en-US" sz="2925">
                <a:solidFill>
                  <a:srgbClr val="535151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 Power BI é a solução líder de mercado para Business Intelligence. Ele permite conectar diferentes fontes de dados, limpar informações inconsistentes e criar relatórios visuais e interativos.</a:t>
            </a:r>
          </a:p>
          <a:p>
            <a:pPr algn="just">
              <a:lnSpc>
                <a:spcPts val="4094"/>
              </a:lnSpc>
            </a:pPr>
            <a:endParaRPr lang="en-US" sz="2925">
              <a:solidFill>
                <a:srgbClr val="535151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  <a:p>
            <a:pPr algn="just">
              <a:lnSpc>
                <a:spcPts val="4094"/>
              </a:lnSpc>
            </a:pPr>
            <a:r>
              <a:rPr lang="en-US" sz="2925">
                <a:solidFill>
                  <a:srgbClr val="535151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Não é apenas sobre criar gráficos bonitos; é sobre transformar números confusos em painéis claros que apoiam a tomada de decisão rápida e precisa.</a:t>
            </a:r>
          </a:p>
        </p:txBody>
      </p:sp>
      <p:sp>
        <p:nvSpPr>
          <p:cNvPr id="6" name="AutoShape 6"/>
          <p:cNvSpPr/>
          <p:nvPr/>
        </p:nvSpPr>
        <p:spPr>
          <a:xfrm rot="-21596">
            <a:off x="415701" y="221451"/>
            <a:ext cx="756935" cy="0"/>
          </a:xfrm>
          <a:prstGeom prst="line">
            <a:avLst/>
          </a:prstGeom>
          <a:ln w="1238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AutoShape 7"/>
          <p:cNvSpPr/>
          <p:nvPr/>
        </p:nvSpPr>
        <p:spPr>
          <a:xfrm rot="-21596">
            <a:off x="415701" y="411951"/>
            <a:ext cx="756935" cy="0"/>
          </a:xfrm>
          <a:prstGeom prst="line">
            <a:avLst/>
          </a:prstGeom>
          <a:ln w="1238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028700" y="2248677"/>
            <a:ext cx="15968345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FFD034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A</a:t>
            </a:r>
            <a:r>
              <a:rPr lang="en-US" sz="3999" b="1" u="none" spc="-79">
                <a:solidFill>
                  <a:srgbClr val="FFD034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Revolução Analítica</a:t>
            </a:r>
          </a:p>
          <a:p>
            <a:pPr marL="0" lvl="0" indent="0" algn="ctr">
              <a:lnSpc>
                <a:spcPts val="4799"/>
              </a:lnSpc>
              <a:spcBef>
                <a:spcPct val="0"/>
              </a:spcBef>
            </a:pPr>
            <a:endParaRPr lang="en-US" sz="3999" b="1" u="none" spc="-79">
              <a:solidFill>
                <a:srgbClr val="FFD034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grpSp>
        <p:nvGrpSpPr>
          <p:cNvPr id="9" name="Group 9"/>
          <p:cNvGrpSpPr/>
          <p:nvPr/>
        </p:nvGrpSpPr>
        <p:grpSpPr>
          <a:xfrm rot="-4254761">
            <a:off x="-8032826" y="-4325528"/>
            <a:ext cx="9609403" cy="9594028"/>
            <a:chOff x="0" y="0"/>
            <a:chExt cx="6350000" cy="63398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254761">
            <a:off x="12085745" y="4043495"/>
            <a:ext cx="9609403" cy="9594028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66598" y="578648"/>
            <a:ext cx="1596834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20"/>
              </a:lnSpc>
              <a:spcBef>
                <a:spcPct val="0"/>
              </a:spcBef>
            </a:pPr>
            <a:r>
              <a:rPr lang="en-US" sz="5100" b="1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O</a:t>
            </a:r>
            <a:r>
              <a:rPr lang="en-US" sz="5100" b="1" u="none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Ecossistema Power BI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19008" y="2674148"/>
            <a:ext cx="15340292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1508" lvl="1" indent="-315754" algn="l">
              <a:lnSpc>
                <a:spcPts val="4094"/>
              </a:lnSpc>
              <a:buFont typeface="Arial"/>
              <a:buChar char="•"/>
            </a:pPr>
            <a:r>
              <a:rPr lang="en-US" sz="2925">
                <a:solidFill>
                  <a:srgbClr val="535151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Onde o trabalho pesado acontece.</a:t>
            </a:r>
          </a:p>
          <a:p>
            <a:pPr marL="631508" lvl="1" indent="-315754" algn="l">
              <a:lnSpc>
                <a:spcPts val="4094"/>
              </a:lnSpc>
              <a:buFont typeface="Arial"/>
              <a:buChar char="•"/>
            </a:pPr>
            <a:r>
              <a:rPr lang="en-US" sz="2925">
                <a:solidFill>
                  <a:srgbClr val="535151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Software gratuito instalado no seu computador. Usado para conectar fontes, modelar dados e construir os painéis.</a:t>
            </a:r>
          </a:p>
        </p:txBody>
      </p:sp>
      <p:sp>
        <p:nvSpPr>
          <p:cNvPr id="6" name="AutoShape 6"/>
          <p:cNvSpPr/>
          <p:nvPr/>
        </p:nvSpPr>
        <p:spPr>
          <a:xfrm rot="-21596">
            <a:off x="415701" y="221451"/>
            <a:ext cx="756935" cy="0"/>
          </a:xfrm>
          <a:prstGeom prst="line">
            <a:avLst/>
          </a:prstGeom>
          <a:ln w="1238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AutoShape 7"/>
          <p:cNvSpPr/>
          <p:nvPr/>
        </p:nvSpPr>
        <p:spPr>
          <a:xfrm rot="-21596">
            <a:off x="415701" y="411951"/>
            <a:ext cx="756935" cy="0"/>
          </a:xfrm>
          <a:prstGeom prst="line">
            <a:avLst/>
          </a:prstGeom>
          <a:ln w="1238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2134767" y="1921673"/>
            <a:ext cx="4626149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FFD034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Power BI</a:t>
            </a:r>
            <a:r>
              <a:rPr lang="en-US" sz="3999" b="1" u="none" spc="-79">
                <a:solidFill>
                  <a:srgbClr val="FFD034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Desktop :</a:t>
            </a:r>
          </a:p>
        </p:txBody>
      </p:sp>
      <p:grpSp>
        <p:nvGrpSpPr>
          <p:cNvPr id="9" name="Group 9"/>
          <p:cNvGrpSpPr/>
          <p:nvPr/>
        </p:nvGrpSpPr>
        <p:grpSpPr>
          <a:xfrm rot="-4254761">
            <a:off x="-8032826" y="-4325528"/>
            <a:ext cx="9609403" cy="9594028"/>
            <a:chOff x="0" y="0"/>
            <a:chExt cx="6350000" cy="63398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134767" y="4771553"/>
            <a:ext cx="4410391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FFD034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Power BI</a:t>
            </a:r>
            <a:r>
              <a:rPr lang="en-US" sz="3999" b="1" u="none" spc="-79">
                <a:solidFill>
                  <a:srgbClr val="FFD034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Service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19008" y="5524028"/>
            <a:ext cx="15340292" cy="152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1508" lvl="1" indent="-315754" algn="l">
              <a:lnSpc>
                <a:spcPts val="4094"/>
              </a:lnSpc>
              <a:buFont typeface="Arial"/>
              <a:buChar char="•"/>
            </a:pPr>
            <a:r>
              <a:rPr lang="en-US" sz="2925">
                <a:solidFill>
                  <a:srgbClr val="535151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 plataforma na nuvem da Microsoft.</a:t>
            </a:r>
          </a:p>
          <a:p>
            <a:pPr marL="631508" lvl="1" indent="-315754" algn="l">
              <a:lnSpc>
                <a:spcPts val="4094"/>
              </a:lnSpc>
              <a:buFont typeface="Arial"/>
              <a:buChar char="•"/>
            </a:pPr>
            <a:r>
              <a:rPr lang="en-US" sz="2925">
                <a:solidFill>
                  <a:srgbClr val="535151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É para onde "publicamos" nosso trabalho. Permite compartilhamento seguro, atualizações automáticas e acesso via navegador.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34767" y="7621433"/>
            <a:ext cx="4388733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FFD034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Power BI</a:t>
            </a:r>
            <a:r>
              <a:rPr lang="en-US" sz="3999" b="1" u="none" spc="-79">
                <a:solidFill>
                  <a:srgbClr val="FFD034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Mobile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19008" y="8373908"/>
            <a:ext cx="15340292" cy="101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1508" lvl="1" indent="-315754" algn="l">
              <a:lnSpc>
                <a:spcPts val="4094"/>
              </a:lnSpc>
              <a:buFont typeface="Arial"/>
              <a:buChar char="•"/>
            </a:pPr>
            <a:r>
              <a:rPr lang="en-US" sz="2925">
                <a:solidFill>
                  <a:srgbClr val="535151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Aplicativo para iOS e Android.</a:t>
            </a:r>
          </a:p>
          <a:p>
            <a:pPr marL="631508" lvl="1" indent="-315754" algn="l">
              <a:lnSpc>
                <a:spcPts val="4094"/>
              </a:lnSpc>
              <a:buFont typeface="Arial"/>
              <a:buChar char="•"/>
            </a:pPr>
            <a:r>
              <a:rPr lang="en-US" sz="2925">
                <a:solidFill>
                  <a:srgbClr val="535151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Permite que os gestores acompanhem os KPIs e tomem decisões de qualquer lugar.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80750" y="5814868"/>
            <a:ext cx="1668832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28700" y="772880"/>
            <a:ext cx="114244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20"/>
              </a:lnSpc>
              <a:spcBef>
                <a:spcPct val="0"/>
              </a:spcBef>
            </a:pPr>
            <a:r>
              <a:rPr lang="en-US" sz="5100" b="1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O C</a:t>
            </a:r>
            <a:r>
              <a:rPr lang="en-US" sz="5100" b="1" u="none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aminho Completo da Informação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48218" y="7937672"/>
            <a:ext cx="4218976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Cri</a:t>
            </a:r>
            <a:r>
              <a:rPr lang="en-US" sz="2199" u="none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ação de relacionamentos entre as tabelas e desenvolvimento de medidas e cálculos complexos com DAX.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22563" y="3370197"/>
            <a:ext cx="3711660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Li</a:t>
            </a:r>
            <a:r>
              <a:rPr lang="en-US" sz="2199" u="none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mpeza e transformação dos dados com o Power Query (ex: remoção de erros, formatação e padronização).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0750" y="7937672"/>
            <a:ext cx="3711660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Conexão</a:t>
            </a:r>
            <a:r>
              <a:rPr lang="en-US" sz="2199" u="none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 com fontes diversas como Excel, SQL, Web ou Sistemas ERP para extração das informações brutas.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0750" y="7118873"/>
            <a:ext cx="329210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3000" b="1" spc="-6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1. </a:t>
            </a:r>
            <a:r>
              <a:rPr lang="en-US" sz="3000" b="1" u="none" spc="-6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Importação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32340" y="2580723"/>
            <a:ext cx="329210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3000" b="1" spc="-6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2. T</a:t>
            </a:r>
            <a:r>
              <a:rPr lang="en-US" sz="3000" b="1" u="none" spc="-6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ratamento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967194" y="2580723"/>
            <a:ext cx="329210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3000" b="1" spc="-6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4.</a:t>
            </a:r>
            <a:r>
              <a:rPr lang="en-US" sz="3000" b="1" u="none" spc="-6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Visualização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30679" y="7118873"/>
            <a:ext cx="329210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3. Model</a:t>
            </a:r>
            <a:r>
              <a:rPr lang="en-US" sz="3000" b="1" u="non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agem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57417" y="3370197"/>
            <a:ext cx="3711660" cy="155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Constru</a:t>
            </a:r>
            <a:r>
              <a:rPr lang="en-US" sz="2199" u="none">
                <a:solidFill>
                  <a:srgbClr val="000000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ção de dashboards interativos, filtros, gráficos e indicadores para a tomada de decisão.</a:t>
            </a:r>
          </a:p>
        </p:txBody>
      </p:sp>
      <p:sp>
        <p:nvSpPr>
          <p:cNvPr id="12" name="AutoShape 12"/>
          <p:cNvSpPr/>
          <p:nvPr/>
        </p:nvSpPr>
        <p:spPr>
          <a:xfrm flipH="1" flipV="1">
            <a:off x="15569933" y="4902386"/>
            <a:ext cx="43314" cy="91248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pt-BR"/>
          </a:p>
        </p:txBody>
      </p:sp>
      <p:sp>
        <p:nvSpPr>
          <p:cNvPr id="13" name="AutoShape 13"/>
          <p:cNvSpPr/>
          <p:nvPr/>
        </p:nvSpPr>
        <p:spPr>
          <a:xfrm flipH="1" flipV="1">
            <a:off x="7078393" y="4924043"/>
            <a:ext cx="0" cy="8908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pt-BR"/>
          </a:p>
        </p:txBody>
      </p:sp>
      <p:sp>
        <p:nvSpPr>
          <p:cNvPr id="14" name="AutoShape 14"/>
          <p:cNvSpPr/>
          <p:nvPr/>
        </p:nvSpPr>
        <p:spPr>
          <a:xfrm flipV="1">
            <a:off x="11576732" y="5814868"/>
            <a:ext cx="0" cy="10683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5" name="AutoShape 15"/>
          <p:cNvSpPr/>
          <p:nvPr/>
        </p:nvSpPr>
        <p:spPr>
          <a:xfrm flipV="1">
            <a:off x="2426803" y="5814868"/>
            <a:ext cx="0" cy="13351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741398">
            <a:off x="10664758" y="-2664614"/>
            <a:ext cx="682527" cy="8284187"/>
            <a:chOff x="0" y="0"/>
            <a:chExt cx="2354580" cy="285787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28578789"/>
            </a:xfrm>
            <a:custGeom>
              <a:avLst/>
              <a:gdLst/>
              <a:ahLst/>
              <a:cxnLst/>
              <a:rect l="l" t="t" r="r" b="b"/>
              <a:pathLst>
                <a:path w="2353310" h="28578789">
                  <a:moveTo>
                    <a:pt x="784860" y="28511478"/>
                  </a:moveTo>
                  <a:cubicBezTo>
                    <a:pt x="905510" y="28552118"/>
                    <a:pt x="1042670" y="28578789"/>
                    <a:pt x="1177290" y="28578789"/>
                  </a:cubicBezTo>
                  <a:cubicBezTo>
                    <a:pt x="1311910" y="28578789"/>
                    <a:pt x="1441450" y="28555928"/>
                    <a:pt x="1560830" y="28515289"/>
                  </a:cubicBezTo>
                  <a:cubicBezTo>
                    <a:pt x="1563370" y="28514018"/>
                    <a:pt x="1565910" y="28514018"/>
                    <a:pt x="1568450" y="28512746"/>
                  </a:cubicBezTo>
                  <a:cubicBezTo>
                    <a:pt x="2016760" y="28350189"/>
                    <a:pt x="2346960" y="27920928"/>
                    <a:pt x="2353310" y="2734017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7319123"/>
                  </a:lnTo>
                  <a:cubicBezTo>
                    <a:pt x="6350" y="27923468"/>
                    <a:pt x="331470" y="28352728"/>
                    <a:pt x="784860" y="2851147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6689207">
            <a:off x="11263159" y="-538177"/>
            <a:ext cx="682527" cy="16959970"/>
            <a:chOff x="0" y="0"/>
            <a:chExt cx="2354580" cy="585085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53310" cy="58508503"/>
            </a:xfrm>
            <a:custGeom>
              <a:avLst/>
              <a:gdLst/>
              <a:ahLst/>
              <a:cxnLst/>
              <a:rect l="l" t="t" r="r" b="b"/>
              <a:pathLst>
                <a:path w="2353310" h="58508503">
                  <a:moveTo>
                    <a:pt x="784860" y="58441196"/>
                  </a:moveTo>
                  <a:cubicBezTo>
                    <a:pt x="905510" y="58481832"/>
                    <a:pt x="1042670" y="58508503"/>
                    <a:pt x="1177290" y="58508503"/>
                  </a:cubicBezTo>
                  <a:cubicBezTo>
                    <a:pt x="1311910" y="58508503"/>
                    <a:pt x="1441450" y="58485646"/>
                    <a:pt x="1560830" y="58445003"/>
                  </a:cubicBezTo>
                  <a:cubicBezTo>
                    <a:pt x="1563370" y="58443732"/>
                    <a:pt x="1565910" y="58443732"/>
                    <a:pt x="1568450" y="58442461"/>
                  </a:cubicBezTo>
                  <a:cubicBezTo>
                    <a:pt x="2016760" y="58279903"/>
                    <a:pt x="2346960" y="57850646"/>
                    <a:pt x="2353310" y="57177800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57133722"/>
                  </a:lnTo>
                  <a:cubicBezTo>
                    <a:pt x="6350" y="57853182"/>
                    <a:pt x="331470" y="58282446"/>
                    <a:pt x="784860" y="58441196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4110792">
            <a:off x="9293480" y="2665973"/>
            <a:ext cx="682527" cy="12102375"/>
            <a:chOff x="0" y="0"/>
            <a:chExt cx="2354580" cy="417507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53310" cy="41750769"/>
            </a:xfrm>
            <a:custGeom>
              <a:avLst/>
              <a:gdLst/>
              <a:ahLst/>
              <a:cxnLst/>
              <a:rect l="l" t="t" r="r" b="b"/>
              <a:pathLst>
                <a:path w="2353310" h="41750769">
                  <a:moveTo>
                    <a:pt x="784860" y="41683462"/>
                  </a:moveTo>
                  <a:cubicBezTo>
                    <a:pt x="905510" y="41724101"/>
                    <a:pt x="1042670" y="41750769"/>
                    <a:pt x="1177290" y="41750769"/>
                  </a:cubicBezTo>
                  <a:cubicBezTo>
                    <a:pt x="1311910" y="41750769"/>
                    <a:pt x="1441450" y="41727912"/>
                    <a:pt x="1560830" y="41687269"/>
                  </a:cubicBezTo>
                  <a:cubicBezTo>
                    <a:pt x="1563370" y="41686001"/>
                    <a:pt x="1565910" y="41686001"/>
                    <a:pt x="1568450" y="41684730"/>
                  </a:cubicBezTo>
                  <a:cubicBezTo>
                    <a:pt x="2016760" y="41522169"/>
                    <a:pt x="2346960" y="41092912"/>
                    <a:pt x="2353310" y="40471626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0440446"/>
                  </a:lnTo>
                  <a:cubicBezTo>
                    <a:pt x="6350" y="41095451"/>
                    <a:pt x="331470" y="41524712"/>
                    <a:pt x="784860" y="41683462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88584" y="4285138"/>
            <a:ext cx="1597071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 spc="-139">
                <a:solidFill>
                  <a:srgbClr val="FFD034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Planejamento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8584" y="5421145"/>
            <a:ext cx="12007481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 spc="-1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Como desenhar a solução antes de abrir o software.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6693188">
            <a:off x="10509406" y="-10810403"/>
            <a:ext cx="7392991" cy="18767283"/>
            <a:chOff x="0" y="0"/>
            <a:chExt cx="2354580" cy="59771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5977157"/>
            </a:xfrm>
            <a:custGeom>
              <a:avLst/>
              <a:gdLst/>
              <a:ahLst/>
              <a:cxnLst/>
              <a:rect l="l" t="t" r="r" b="b"/>
              <a:pathLst>
                <a:path w="2353310" h="5977157">
                  <a:moveTo>
                    <a:pt x="784860" y="5909847"/>
                  </a:moveTo>
                  <a:cubicBezTo>
                    <a:pt x="905510" y="5950487"/>
                    <a:pt x="1042670" y="5977157"/>
                    <a:pt x="1177290" y="5977157"/>
                  </a:cubicBezTo>
                  <a:cubicBezTo>
                    <a:pt x="1311910" y="5977157"/>
                    <a:pt x="1441450" y="5954297"/>
                    <a:pt x="1560830" y="5913657"/>
                  </a:cubicBezTo>
                  <a:cubicBezTo>
                    <a:pt x="1563370" y="5912387"/>
                    <a:pt x="1565910" y="5912387"/>
                    <a:pt x="1568450" y="5911117"/>
                  </a:cubicBezTo>
                  <a:cubicBezTo>
                    <a:pt x="2016760" y="5748557"/>
                    <a:pt x="2346960" y="5319297"/>
                    <a:pt x="2353310" y="480808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804422"/>
                  </a:lnTo>
                  <a:cubicBezTo>
                    <a:pt x="6350" y="5321837"/>
                    <a:pt x="331470" y="5751097"/>
                    <a:pt x="784860" y="5909847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4093126"/>
            <a:ext cx="4558777" cy="5165174"/>
            <a:chOff x="0" y="0"/>
            <a:chExt cx="1200666" cy="13603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00666" cy="1360375"/>
            </a:xfrm>
            <a:custGeom>
              <a:avLst/>
              <a:gdLst/>
              <a:ahLst/>
              <a:cxnLst/>
              <a:rect l="l" t="t" r="r" b="b"/>
              <a:pathLst>
                <a:path w="1200666" h="1360375">
                  <a:moveTo>
                    <a:pt x="49249" y="0"/>
                  </a:moveTo>
                  <a:lnTo>
                    <a:pt x="1151417" y="0"/>
                  </a:lnTo>
                  <a:cubicBezTo>
                    <a:pt x="1164478" y="0"/>
                    <a:pt x="1177005" y="5189"/>
                    <a:pt x="1186241" y="14425"/>
                  </a:cubicBezTo>
                  <a:cubicBezTo>
                    <a:pt x="1195477" y="23661"/>
                    <a:pt x="1200666" y="36187"/>
                    <a:pt x="1200666" y="49249"/>
                  </a:cubicBezTo>
                  <a:lnTo>
                    <a:pt x="1200666" y="1311126"/>
                  </a:lnTo>
                  <a:cubicBezTo>
                    <a:pt x="1200666" y="1338325"/>
                    <a:pt x="1178616" y="1360375"/>
                    <a:pt x="1151417" y="1360375"/>
                  </a:cubicBezTo>
                  <a:lnTo>
                    <a:pt x="49249" y="1360375"/>
                  </a:lnTo>
                  <a:cubicBezTo>
                    <a:pt x="36187" y="1360375"/>
                    <a:pt x="23661" y="1355186"/>
                    <a:pt x="14425" y="1345950"/>
                  </a:cubicBezTo>
                  <a:cubicBezTo>
                    <a:pt x="5189" y="1336714"/>
                    <a:pt x="0" y="1324188"/>
                    <a:pt x="0" y="1311126"/>
                  </a:cubicBezTo>
                  <a:lnTo>
                    <a:pt x="0" y="49249"/>
                  </a:lnTo>
                  <a:cubicBezTo>
                    <a:pt x="0" y="36187"/>
                    <a:pt x="5189" y="23661"/>
                    <a:pt x="14425" y="14425"/>
                  </a:cubicBezTo>
                  <a:cubicBezTo>
                    <a:pt x="23661" y="5189"/>
                    <a:pt x="36187" y="0"/>
                    <a:pt x="49249" y="0"/>
                  </a:cubicBezTo>
                  <a:close/>
                </a:path>
              </a:pathLst>
            </a:custGeom>
            <a:solidFill>
              <a:srgbClr val="FEF4E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200666" cy="140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021817" y="4697355"/>
            <a:ext cx="257254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1E1E1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</a:t>
            </a:r>
            <a:r>
              <a:rPr lang="en-US" sz="3999" b="1" u="none" spc="-79">
                <a:solidFill>
                  <a:srgbClr val="1E1E1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Objetivo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5989" y="1307429"/>
            <a:ext cx="11343637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20"/>
              </a:lnSpc>
              <a:spcBef>
                <a:spcPct val="0"/>
              </a:spcBef>
            </a:pPr>
            <a:r>
              <a:rPr lang="en-US" sz="5100" b="1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Planejamento: </a:t>
            </a:r>
          </a:p>
          <a:p>
            <a:pPr marL="0" lvl="0" indent="0" algn="l">
              <a:lnSpc>
                <a:spcPts val="6120"/>
              </a:lnSpc>
              <a:spcBef>
                <a:spcPct val="0"/>
              </a:spcBef>
            </a:pPr>
            <a:r>
              <a:rPr lang="en-US" sz="5100" b="1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Antes de Abrir o Software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61278" y="5621770"/>
            <a:ext cx="3961936" cy="3068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4"/>
              </a:lnSpc>
              <a:spcBef>
                <a:spcPct val="0"/>
              </a:spcBef>
            </a:pPr>
            <a:r>
              <a:rPr lang="en-US" sz="2925" spc="-58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Qual é o</a:t>
            </a:r>
            <a:r>
              <a:rPr lang="en-US" sz="2925" u="none" spc="-58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 problema de negócio que estamos tentando resolver? Quem irá utilizar este painel e quais perguntas precisam ser respondidas?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443756" y="4093126"/>
            <a:ext cx="4558777" cy="5165174"/>
            <a:chOff x="0" y="0"/>
            <a:chExt cx="1200666" cy="13603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00666" cy="1360375"/>
            </a:xfrm>
            <a:custGeom>
              <a:avLst/>
              <a:gdLst/>
              <a:ahLst/>
              <a:cxnLst/>
              <a:rect l="l" t="t" r="r" b="b"/>
              <a:pathLst>
                <a:path w="1200666" h="1360375">
                  <a:moveTo>
                    <a:pt x="49249" y="0"/>
                  </a:moveTo>
                  <a:lnTo>
                    <a:pt x="1151417" y="0"/>
                  </a:lnTo>
                  <a:cubicBezTo>
                    <a:pt x="1164478" y="0"/>
                    <a:pt x="1177005" y="5189"/>
                    <a:pt x="1186241" y="14425"/>
                  </a:cubicBezTo>
                  <a:cubicBezTo>
                    <a:pt x="1195477" y="23661"/>
                    <a:pt x="1200666" y="36187"/>
                    <a:pt x="1200666" y="49249"/>
                  </a:cubicBezTo>
                  <a:lnTo>
                    <a:pt x="1200666" y="1311126"/>
                  </a:lnTo>
                  <a:cubicBezTo>
                    <a:pt x="1200666" y="1338325"/>
                    <a:pt x="1178616" y="1360375"/>
                    <a:pt x="1151417" y="1360375"/>
                  </a:cubicBezTo>
                  <a:lnTo>
                    <a:pt x="49249" y="1360375"/>
                  </a:lnTo>
                  <a:cubicBezTo>
                    <a:pt x="36187" y="1360375"/>
                    <a:pt x="23661" y="1355186"/>
                    <a:pt x="14425" y="1345950"/>
                  </a:cubicBezTo>
                  <a:cubicBezTo>
                    <a:pt x="5189" y="1336714"/>
                    <a:pt x="0" y="1324188"/>
                    <a:pt x="0" y="1311126"/>
                  </a:cubicBezTo>
                  <a:lnTo>
                    <a:pt x="0" y="49249"/>
                  </a:lnTo>
                  <a:cubicBezTo>
                    <a:pt x="0" y="36187"/>
                    <a:pt x="5189" y="23661"/>
                    <a:pt x="14425" y="14425"/>
                  </a:cubicBezTo>
                  <a:cubicBezTo>
                    <a:pt x="23661" y="5189"/>
                    <a:pt x="36187" y="0"/>
                    <a:pt x="49249" y="0"/>
                  </a:cubicBezTo>
                  <a:close/>
                </a:path>
              </a:pathLst>
            </a:custGeom>
            <a:solidFill>
              <a:srgbClr val="FEF4E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00666" cy="140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859783" y="4093126"/>
            <a:ext cx="4558777" cy="5165174"/>
            <a:chOff x="0" y="0"/>
            <a:chExt cx="1200666" cy="136037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00666" cy="1360375"/>
            </a:xfrm>
            <a:custGeom>
              <a:avLst/>
              <a:gdLst/>
              <a:ahLst/>
              <a:cxnLst/>
              <a:rect l="l" t="t" r="r" b="b"/>
              <a:pathLst>
                <a:path w="1200666" h="1360375">
                  <a:moveTo>
                    <a:pt x="49249" y="0"/>
                  </a:moveTo>
                  <a:lnTo>
                    <a:pt x="1151417" y="0"/>
                  </a:lnTo>
                  <a:cubicBezTo>
                    <a:pt x="1164478" y="0"/>
                    <a:pt x="1177005" y="5189"/>
                    <a:pt x="1186241" y="14425"/>
                  </a:cubicBezTo>
                  <a:cubicBezTo>
                    <a:pt x="1195477" y="23661"/>
                    <a:pt x="1200666" y="36187"/>
                    <a:pt x="1200666" y="49249"/>
                  </a:cubicBezTo>
                  <a:lnTo>
                    <a:pt x="1200666" y="1311126"/>
                  </a:lnTo>
                  <a:cubicBezTo>
                    <a:pt x="1200666" y="1338325"/>
                    <a:pt x="1178616" y="1360375"/>
                    <a:pt x="1151417" y="1360375"/>
                  </a:cubicBezTo>
                  <a:lnTo>
                    <a:pt x="49249" y="1360375"/>
                  </a:lnTo>
                  <a:cubicBezTo>
                    <a:pt x="36187" y="1360375"/>
                    <a:pt x="23661" y="1355186"/>
                    <a:pt x="14425" y="1345950"/>
                  </a:cubicBezTo>
                  <a:cubicBezTo>
                    <a:pt x="5189" y="1336714"/>
                    <a:pt x="0" y="1324188"/>
                    <a:pt x="0" y="1311126"/>
                  </a:cubicBezTo>
                  <a:lnTo>
                    <a:pt x="0" y="49249"/>
                  </a:lnTo>
                  <a:cubicBezTo>
                    <a:pt x="0" y="36187"/>
                    <a:pt x="5189" y="23661"/>
                    <a:pt x="14425" y="14425"/>
                  </a:cubicBezTo>
                  <a:cubicBezTo>
                    <a:pt x="23661" y="5189"/>
                    <a:pt x="36187" y="0"/>
                    <a:pt x="49249" y="0"/>
                  </a:cubicBezTo>
                  <a:close/>
                </a:path>
              </a:pathLst>
            </a:custGeom>
            <a:solidFill>
              <a:srgbClr val="FEF4E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200666" cy="140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437359" y="4684003"/>
            <a:ext cx="257254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1E1E1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</a:t>
            </a:r>
            <a:r>
              <a:rPr lang="en-US" sz="3999" b="1" u="none" spc="-79">
                <a:solidFill>
                  <a:srgbClr val="1E1E1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Fontes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13999" y="4697355"/>
            <a:ext cx="270248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1E1E1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</a:t>
            </a:r>
            <a:r>
              <a:rPr lang="en-US" sz="3999" b="1" u="none" spc="-79">
                <a:solidFill>
                  <a:srgbClr val="1E1E1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Rascunho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42177" y="5621770"/>
            <a:ext cx="3961936" cy="3068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4"/>
              </a:lnSpc>
              <a:spcBef>
                <a:spcPct val="0"/>
              </a:spcBef>
            </a:pPr>
            <a:r>
              <a:rPr lang="en-US" sz="2925" spc="-58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Onde as info</a:t>
            </a:r>
            <a:r>
              <a:rPr lang="en-US" sz="2925" u="none" spc="-58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rmações estão armazenadas? Os dados estão estruturados e confiáveis, ou exigirão um alto nível de tratamento?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19303" y="5621770"/>
            <a:ext cx="3961936" cy="3068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94"/>
              </a:lnSpc>
              <a:spcBef>
                <a:spcPct val="0"/>
              </a:spcBef>
            </a:pPr>
            <a:r>
              <a:rPr lang="en-US" sz="2925" spc="-58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Ant</a:t>
            </a:r>
            <a:r>
              <a:rPr lang="en-US" sz="2925" u="none" spc="-58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es de arrastar gráficos, faça um esboço. Defina quais KPIs e filtros são essenciais para que o usuário não se perca na informação.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6693188">
            <a:off x="10509406" y="-10810403"/>
            <a:ext cx="7392991" cy="18767283"/>
            <a:chOff x="0" y="0"/>
            <a:chExt cx="2354580" cy="59771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5977157"/>
            </a:xfrm>
            <a:custGeom>
              <a:avLst/>
              <a:gdLst/>
              <a:ahLst/>
              <a:cxnLst/>
              <a:rect l="l" t="t" r="r" b="b"/>
              <a:pathLst>
                <a:path w="2353310" h="5977157">
                  <a:moveTo>
                    <a:pt x="784860" y="5909847"/>
                  </a:moveTo>
                  <a:cubicBezTo>
                    <a:pt x="905510" y="5950487"/>
                    <a:pt x="1042670" y="5977157"/>
                    <a:pt x="1177290" y="5977157"/>
                  </a:cubicBezTo>
                  <a:cubicBezTo>
                    <a:pt x="1311910" y="5977157"/>
                    <a:pt x="1441450" y="5954297"/>
                    <a:pt x="1560830" y="5913657"/>
                  </a:cubicBezTo>
                  <a:cubicBezTo>
                    <a:pt x="1563370" y="5912387"/>
                    <a:pt x="1565910" y="5912387"/>
                    <a:pt x="1568450" y="5911117"/>
                  </a:cubicBezTo>
                  <a:cubicBezTo>
                    <a:pt x="2016760" y="5748557"/>
                    <a:pt x="2346960" y="5319297"/>
                    <a:pt x="2353310" y="480808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804422"/>
                  </a:lnTo>
                  <a:cubicBezTo>
                    <a:pt x="6350" y="5321837"/>
                    <a:pt x="331470" y="5751097"/>
                    <a:pt x="784860" y="5909847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16105" y="1028700"/>
            <a:ext cx="9654389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20"/>
              </a:lnSpc>
              <a:spcBef>
                <a:spcPct val="0"/>
              </a:spcBef>
            </a:pPr>
            <a:r>
              <a:rPr lang="en-US" sz="5100" b="1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O Framework de Planejamento em 4 Passos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994" y="3239547"/>
            <a:ext cx="17212011" cy="615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925" b="1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Passo 1: Briefing de Negócio</a:t>
            </a:r>
          </a:p>
          <a:p>
            <a:pPr marL="631508" lvl="1" indent="-315754" algn="l">
              <a:lnSpc>
                <a:spcPts val="4094"/>
              </a:lnSpc>
              <a:buFont typeface="Arial"/>
              <a:buChar char="•"/>
            </a:pPr>
            <a:r>
              <a:rPr lang="en-US" sz="2925">
                <a:solidFill>
                  <a:srgbClr val="535151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Não comece pelos gráficos. Pergunte: Que decisão este painel precisa apoiar?</a:t>
            </a:r>
          </a:p>
          <a:p>
            <a:pPr algn="l">
              <a:lnSpc>
                <a:spcPts val="4094"/>
              </a:lnSpc>
            </a:pPr>
            <a:endParaRPr lang="en-US" sz="2925">
              <a:solidFill>
                <a:srgbClr val="535151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  <a:p>
            <a:pPr algn="l">
              <a:lnSpc>
                <a:spcPts val="4094"/>
              </a:lnSpc>
            </a:pPr>
            <a:r>
              <a:rPr lang="en-US" sz="2925" b="1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Passo 2: Mapeamento de Fontes</a:t>
            </a:r>
          </a:p>
          <a:p>
            <a:pPr marL="631508" lvl="1" indent="-315754" algn="l">
              <a:lnSpc>
                <a:spcPts val="4094"/>
              </a:lnSpc>
              <a:buFont typeface="Arial"/>
              <a:buChar char="•"/>
            </a:pPr>
            <a:r>
              <a:rPr lang="en-US" sz="2925">
                <a:solidFill>
                  <a:srgbClr val="535151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De onde vêm os dados? Excel? Banco de Dados? Eles estão limpos ou precisam de muito tratamento?</a:t>
            </a:r>
          </a:p>
          <a:p>
            <a:pPr algn="l">
              <a:lnSpc>
                <a:spcPts val="4094"/>
              </a:lnSpc>
            </a:pPr>
            <a:endParaRPr lang="en-US" sz="2925">
              <a:solidFill>
                <a:srgbClr val="535151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  <a:p>
            <a:pPr algn="l">
              <a:lnSpc>
                <a:spcPts val="4094"/>
              </a:lnSpc>
            </a:pPr>
            <a:r>
              <a:rPr lang="en-US" sz="2925" b="1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Passo 3: Arquitetura (O Modelo)</a:t>
            </a:r>
          </a:p>
          <a:p>
            <a:pPr marL="631508" lvl="1" indent="-315754" algn="l">
              <a:lnSpc>
                <a:spcPts val="4094"/>
              </a:lnSpc>
              <a:buFont typeface="Arial"/>
              <a:buChar char="•"/>
            </a:pPr>
            <a:r>
              <a:rPr lang="en-US" sz="2925">
                <a:solidFill>
                  <a:srgbClr val="535151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Separar o que é "Fato" (números e eventos) do que é "Dimensão" (cadastros e filtros).</a:t>
            </a:r>
          </a:p>
          <a:p>
            <a:pPr algn="l">
              <a:lnSpc>
                <a:spcPts val="4094"/>
              </a:lnSpc>
            </a:pPr>
            <a:endParaRPr lang="en-US" sz="2925">
              <a:solidFill>
                <a:srgbClr val="535151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  <a:p>
            <a:pPr algn="l">
              <a:lnSpc>
                <a:spcPts val="4094"/>
              </a:lnSpc>
            </a:pPr>
            <a:r>
              <a:rPr lang="en-US" sz="2925" b="1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Passo 4: O Wireframe (O Esboço)</a:t>
            </a:r>
          </a:p>
          <a:p>
            <a:pPr marL="631508" lvl="1" indent="-315754" algn="l">
              <a:lnSpc>
                <a:spcPts val="4094"/>
              </a:lnSpc>
              <a:buFont typeface="Arial"/>
              <a:buChar char="•"/>
            </a:pPr>
            <a:r>
              <a:rPr lang="en-US" sz="2925">
                <a:solidFill>
                  <a:srgbClr val="535151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Desenhe a tela no papel antes. Defina onde ficarão os filtros, os indicadores (KPIs) e os gráficos de detalhamento.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741398">
            <a:off x="10664758" y="-2664614"/>
            <a:ext cx="682527" cy="8284187"/>
            <a:chOff x="0" y="0"/>
            <a:chExt cx="2354580" cy="285787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28578789"/>
            </a:xfrm>
            <a:custGeom>
              <a:avLst/>
              <a:gdLst/>
              <a:ahLst/>
              <a:cxnLst/>
              <a:rect l="l" t="t" r="r" b="b"/>
              <a:pathLst>
                <a:path w="2353310" h="28578789">
                  <a:moveTo>
                    <a:pt x="784860" y="28511478"/>
                  </a:moveTo>
                  <a:cubicBezTo>
                    <a:pt x="905510" y="28552118"/>
                    <a:pt x="1042670" y="28578789"/>
                    <a:pt x="1177290" y="28578789"/>
                  </a:cubicBezTo>
                  <a:cubicBezTo>
                    <a:pt x="1311910" y="28578789"/>
                    <a:pt x="1441450" y="28555928"/>
                    <a:pt x="1560830" y="28515289"/>
                  </a:cubicBezTo>
                  <a:cubicBezTo>
                    <a:pt x="1563370" y="28514018"/>
                    <a:pt x="1565910" y="28514018"/>
                    <a:pt x="1568450" y="28512746"/>
                  </a:cubicBezTo>
                  <a:cubicBezTo>
                    <a:pt x="2016760" y="28350189"/>
                    <a:pt x="2346960" y="27920928"/>
                    <a:pt x="2353310" y="2734017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7319123"/>
                  </a:lnTo>
                  <a:cubicBezTo>
                    <a:pt x="6350" y="27923468"/>
                    <a:pt x="331470" y="28352728"/>
                    <a:pt x="784860" y="2851147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6689207">
            <a:off x="11263159" y="-538177"/>
            <a:ext cx="682527" cy="16959970"/>
            <a:chOff x="0" y="0"/>
            <a:chExt cx="2354580" cy="585085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53310" cy="58508503"/>
            </a:xfrm>
            <a:custGeom>
              <a:avLst/>
              <a:gdLst/>
              <a:ahLst/>
              <a:cxnLst/>
              <a:rect l="l" t="t" r="r" b="b"/>
              <a:pathLst>
                <a:path w="2353310" h="58508503">
                  <a:moveTo>
                    <a:pt x="784860" y="58441196"/>
                  </a:moveTo>
                  <a:cubicBezTo>
                    <a:pt x="905510" y="58481832"/>
                    <a:pt x="1042670" y="58508503"/>
                    <a:pt x="1177290" y="58508503"/>
                  </a:cubicBezTo>
                  <a:cubicBezTo>
                    <a:pt x="1311910" y="58508503"/>
                    <a:pt x="1441450" y="58485646"/>
                    <a:pt x="1560830" y="58445003"/>
                  </a:cubicBezTo>
                  <a:cubicBezTo>
                    <a:pt x="1563370" y="58443732"/>
                    <a:pt x="1565910" y="58443732"/>
                    <a:pt x="1568450" y="58442461"/>
                  </a:cubicBezTo>
                  <a:cubicBezTo>
                    <a:pt x="2016760" y="58279903"/>
                    <a:pt x="2346960" y="57850646"/>
                    <a:pt x="2353310" y="57177800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57133722"/>
                  </a:lnTo>
                  <a:cubicBezTo>
                    <a:pt x="6350" y="57853182"/>
                    <a:pt x="331470" y="58282446"/>
                    <a:pt x="784860" y="58441196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4110792">
            <a:off x="9293480" y="2665973"/>
            <a:ext cx="682527" cy="12102375"/>
            <a:chOff x="0" y="0"/>
            <a:chExt cx="2354580" cy="417507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53310" cy="41750769"/>
            </a:xfrm>
            <a:custGeom>
              <a:avLst/>
              <a:gdLst/>
              <a:ahLst/>
              <a:cxnLst/>
              <a:rect l="l" t="t" r="r" b="b"/>
              <a:pathLst>
                <a:path w="2353310" h="41750769">
                  <a:moveTo>
                    <a:pt x="784860" y="41683462"/>
                  </a:moveTo>
                  <a:cubicBezTo>
                    <a:pt x="905510" y="41724101"/>
                    <a:pt x="1042670" y="41750769"/>
                    <a:pt x="1177290" y="41750769"/>
                  </a:cubicBezTo>
                  <a:cubicBezTo>
                    <a:pt x="1311910" y="41750769"/>
                    <a:pt x="1441450" y="41727912"/>
                    <a:pt x="1560830" y="41687269"/>
                  </a:cubicBezTo>
                  <a:cubicBezTo>
                    <a:pt x="1563370" y="41686001"/>
                    <a:pt x="1565910" y="41686001"/>
                    <a:pt x="1568450" y="41684730"/>
                  </a:cubicBezTo>
                  <a:cubicBezTo>
                    <a:pt x="2016760" y="41522169"/>
                    <a:pt x="2346960" y="41092912"/>
                    <a:pt x="2353310" y="40471626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0440446"/>
                  </a:lnTo>
                  <a:cubicBezTo>
                    <a:pt x="6350" y="41095451"/>
                    <a:pt x="331470" y="41524712"/>
                    <a:pt x="784860" y="41683462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88584" y="4285138"/>
            <a:ext cx="1597071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 spc="-139">
                <a:solidFill>
                  <a:srgbClr val="FFD034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ETL e Power Query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8584" y="5421145"/>
            <a:ext cx="12007481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 spc="-1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 arte de importar e limpar os dados.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6693188">
            <a:off x="10509406" y="-10810403"/>
            <a:ext cx="7392991" cy="18767283"/>
            <a:chOff x="0" y="0"/>
            <a:chExt cx="2354580" cy="59771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5977157"/>
            </a:xfrm>
            <a:custGeom>
              <a:avLst/>
              <a:gdLst/>
              <a:ahLst/>
              <a:cxnLst/>
              <a:rect l="l" t="t" r="r" b="b"/>
              <a:pathLst>
                <a:path w="2353310" h="5977157">
                  <a:moveTo>
                    <a:pt x="784860" y="5909847"/>
                  </a:moveTo>
                  <a:cubicBezTo>
                    <a:pt x="905510" y="5950487"/>
                    <a:pt x="1042670" y="5977157"/>
                    <a:pt x="1177290" y="5977157"/>
                  </a:cubicBezTo>
                  <a:cubicBezTo>
                    <a:pt x="1311910" y="5977157"/>
                    <a:pt x="1441450" y="5954297"/>
                    <a:pt x="1560830" y="5913657"/>
                  </a:cubicBezTo>
                  <a:cubicBezTo>
                    <a:pt x="1563370" y="5912387"/>
                    <a:pt x="1565910" y="5912387"/>
                    <a:pt x="1568450" y="5911117"/>
                  </a:cubicBezTo>
                  <a:cubicBezTo>
                    <a:pt x="2016760" y="5748557"/>
                    <a:pt x="2346960" y="5319297"/>
                    <a:pt x="2353310" y="480808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804422"/>
                  </a:lnTo>
                  <a:cubicBezTo>
                    <a:pt x="6350" y="5321837"/>
                    <a:pt x="331470" y="5751097"/>
                    <a:pt x="784860" y="5909847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1080653">
            <a:off x="15938772" y="670890"/>
            <a:ext cx="6826178" cy="15690294"/>
            <a:chOff x="0" y="0"/>
            <a:chExt cx="2354580" cy="54121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53310" cy="5412114"/>
            </a:xfrm>
            <a:custGeom>
              <a:avLst/>
              <a:gdLst/>
              <a:ahLst/>
              <a:cxnLst/>
              <a:rect l="l" t="t" r="r" b="b"/>
              <a:pathLst>
                <a:path w="2353310" h="5412114">
                  <a:moveTo>
                    <a:pt x="784860" y="5344804"/>
                  </a:moveTo>
                  <a:cubicBezTo>
                    <a:pt x="905510" y="5385444"/>
                    <a:pt x="1042670" y="5412114"/>
                    <a:pt x="1177290" y="5412114"/>
                  </a:cubicBezTo>
                  <a:cubicBezTo>
                    <a:pt x="1311910" y="5412114"/>
                    <a:pt x="1441450" y="5389254"/>
                    <a:pt x="1560830" y="5348614"/>
                  </a:cubicBezTo>
                  <a:cubicBezTo>
                    <a:pt x="1563370" y="5347344"/>
                    <a:pt x="1565910" y="5347344"/>
                    <a:pt x="1568450" y="5346074"/>
                  </a:cubicBezTo>
                  <a:cubicBezTo>
                    <a:pt x="2016760" y="5183514"/>
                    <a:pt x="2346960" y="4754254"/>
                    <a:pt x="2353310" y="4244779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241552"/>
                  </a:lnTo>
                  <a:cubicBezTo>
                    <a:pt x="6350" y="4756794"/>
                    <a:pt x="331470" y="5186054"/>
                    <a:pt x="784860" y="534480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372400"/>
            <a:ext cx="9047993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20"/>
              </a:lnSpc>
              <a:spcBef>
                <a:spcPct val="0"/>
              </a:spcBef>
            </a:pPr>
            <a:r>
              <a:rPr lang="en-US" sz="5100" b="1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Power Query (A Cozinha)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07297" y="3289195"/>
            <a:ext cx="12827289" cy="4966352"/>
            <a:chOff x="0" y="0"/>
            <a:chExt cx="2647687" cy="102510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47687" cy="1025107"/>
            </a:xfrm>
            <a:custGeom>
              <a:avLst/>
              <a:gdLst/>
              <a:ahLst/>
              <a:cxnLst/>
              <a:rect l="l" t="t" r="r" b="b"/>
              <a:pathLst>
                <a:path w="2647687" h="1025107">
                  <a:moveTo>
                    <a:pt x="17503" y="0"/>
                  </a:moveTo>
                  <a:lnTo>
                    <a:pt x="2630184" y="0"/>
                  </a:lnTo>
                  <a:cubicBezTo>
                    <a:pt x="2634826" y="0"/>
                    <a:pt x="2639278" y="1844"/>
                    <a:pt x="2642561" y="5127"/>
                  </a:cubicBezTo>
                  <a:cubicBezTo>
                    <a:pt x="2645843" y="8409"/>
                    <a:pt x="2647687" y="12861"/>
                    <a:pt x="2647687" y="17503"/>
                  </a:cubicBezTo>
                  <a:lnTo>
                    <a:pt x="2647687" y="1007604"/>
                  </a:lnTo>
                  <a:cubicBezTo>
                    <a:pt x="2647687" y="1012246"/>
                    <a:pt x="2645843" y="1016698"/>
                    <a:pt x="2642561" y="1019981"/>
                  </a:cubicBezTo>
                  <a:cubicBezTo>
                    <a:pt x="2639278" y="1023263"/>
                    <a:pt x="2634826" y="1025107"/>
                    <a:pt x="2630184" y="1025107"/>
                  </a:cubicBezTo>
                  <a:lnTo>
                    <a:pt x="17503" y="1025107"/>
                  </a:lnTo>
                  <a:cubicBezTo>
                    <a:pt x="12861" y="1025107"/>
                    <a:pt x="8409" y="1023263"/>
                    <a:pt x="5127" y="1019981"/>
                  </a:cubicBezTo>
                  <a:cubicBezTo>
                    <a:pt x="1844" y="1016698"/>
                    <a:pt x="0" y="1012246"/>
                    <a:pt x="0" y="1007604"/>
                  </a:cubicBezTo>
                  <a:lnTo>
                    <a:pt x="0" y="17503"/>
                  </a:lnTo>
                  <a:cubicBezTo>
                    <a:pt x="0" y="12861"/>
                    <a:pt x="1844" y="8409"/>
                    <a:pt x="5127" y="5127"/>
                  </a:cubicBezTo>
                  <a:cubicBezTo>
                    <a:pt x="8409" y="1844"/>
                    <a:pt x="12861" y="0"/>
                    <a:pt x="17503" y="0"/>
                  </a:cubicBezTo>
                  <a:close/>
                </a:path>
              </a:pathLst>
            </a:custGeom>
            <a:solidFill>
              <a:srgbClr val="FEF4E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647687" cy="10727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00489" y="3755110"/>
            <a:ext cx="12079830" cy="3911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spc="-64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O Power Query é a</a:t>
            </a:r>
            <a:r>
              <a:rPr lang="en-US" sz="3200" u="none" spc="-64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 ferramenta de ETL (Extract, Transform, Load) embutida no Power BI.</a:t>
            </a:r>
          </a:p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endParaRPr lang="en-US" sz="3200" u="none" spc="-64">
              <a:solidFill>
                <a:srgbClr val="535151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3200" u="none" spc="-64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É aqui que preparamos os ingredientes: combinamos tabelas, removemos colunas desnecessárias, alteramos tipos de dados e deixamos tudo limpo. O foco é automatizar o trabalho repetitivo para que, ao atualizar a base, tudo seja tratado automaticamente.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6693188">
            <a:off x="13562804" y="-11125380"/>
            <a:ext cx="7392991" cy="18767283"/>
            <a:chOff x="0" y="0"/>
            <a:chExt cx="2354580" cy="59771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5977157"/>
            </a:xfrm>
            <a:custGeom>
              <a:avLst/>
              <a:gdLst/>
              <a:ahLst/>
              <a:cxnLst/>
              <a:rect l="l" t="t" r="r" b="b"/>
              <a:pathLst>
                <a:path w="2353310" h="5977157">
                  <a:moveTo>
                    <a:pt x="784860" y="5909847"/>
                  </a:moveTo>
                  <a:cubicBezTo>
                    <a:pt x="905510" y="5950487"/>
                    <a:pt x="1042670" y="5977157"/>
                    <a:pt x="1177290" y="5977157"/>
                  </a:cubicBezTo>
                  <a:cubicBezTo>
                    <a:pt x="1311910" y="5977157"/>
                    <a:pt x="1441450" y="5954297"/>
                    <a:pt x="1560830" y="5913657"/>
                  </a:cubicBezTo>
                  <a:cubicBezTo>
                    <a:pt x="1563370" y="5912387"/>
                    <a:pt x="1565910" y="5912387"/>
                    <a:pt x="1568450" y="5911117"/>
                  </a:cubicBezTo>
                  <a:cubicBezTo>
                    <a:pt x="2016760" y="5748557"/>
                    <a:pt x="2346960" y="5319297"/>
                    <a:pt x="2353310" y="480808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804422"/>
                  </a:lnTo>
                  <a:cubicBezTo>
                    <a:pt x="6350" y="5321837"/>
                    <a:pt x="331470" y="5751097"/>
                    <a:pt x="784860" y="5909847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1080653">
            <a:off x="16984123" y="3057896"/>
            <a:ext cx="6826178" cy="15690294"/>
            <a:chOff x="0" y="0"/>
            <a:chExt cx="2354580" cy="54121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53310" cy="5412114"/>
            </a:xfrm>
            <a:custGeom>
              <a:avLst/>
              <a:gdLst/>
              <a:ahLst/>
              <a:cxnLst/>
              <a:rect l="l" t="t" r="r" b="b"/>
              <a:pathLst>
                <a:path w="2353310" h="5412114">
                  <a:moveTo>
                    <a:pt x="784860" y="5344804"/>
                  </a:moveTo>
                  <a:cubicBezTo>
                    <a:pt x="905510" y="5385444"/>
                    <a:pt x="1042670" y="5412114"/>
                    <a:pt x="1177290" y="5412114"/>
                  </a:cubicBezTo>
                  <a:cubicBezTo>
                    <a:pt x="1311910" y="5412114"/>
                    <a:pt x="1441450" y="5389254"/>
                    <a:pt x="1560830" y="5348614"/>
                  </a:cubicBezTo>
                  <a:cubicBezTo>
                    <a:pt x="1563370" y="5347344"/>
                    <a:pt x="1565910" y="5347344"/>
                    <a:pt x="1568450" y="5346074"/>
                  </a:cubicBezTo>
                  <a:cubicBezTo>
                    <a:pt x="2016760" y="5183514"/>
                    <a:pt x="2346960" y="4754254"/>
                    <a:pt x="2353310" y="4244779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241552"/>
                  </a:lnTo>
                  <a:cubicBezTo>
                    <a:pt x="6350" y="4756794"/>
                    <a:pt x="331470" y="5186054"/>
                    <a:pt x="784860" y="534480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402142" cy="10287000"/>
            <a:chOff x="0" y="0"/>
            <a:chExt cx="4787900" cy="76932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87900" cy="7693227"/>
            </a:xfrm>
            <a:custGeom>
              <a:avLst/>
              <a:gdLst/>
              <a:ahLst/>
              <a:cxnLst/>
              <a:rect l="l" t="t" r="r" b="b"/>
              <a:pathLst>
                <a:path w="4787900" h="7693227">
                  <a:moveTo>
                    <a:pt x="0" y="0"/>
                  </a:moveTo>
                  <a:lnTo>
                    <a:pt x="0" y="7693227"/>
                  </a:lnTo>
                  <a:lnTo>
                    <a:pt x="4787900" y="6577709"/>
                  </a:lnTo>
                  <a:lnTo>
                    <a:pt x="4787900" y="0"/>
                  </a:lnTo>
                  <a:close/>
                </a:path>
              </a:pathLst>
            </a:custGeom>
            <a:blipFill>
              <a:blip r:embed="rId2"/>
              <a:stretch>
                <a:fillRect l="-12615" r="-1261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Freeform 8"/>
          <p:cNvSpPr/>
          <p:nvPr/>
        </p:nvSpPr>
        <p:spPr>
          <a:xfrm>
            <a:off x="7173829" y="2476655"/>
            <a:ext cx="1383433" cy="1563202"/>
          </a:xfrm>
          <a:custGeom>
            <a:avLst/>
            <a:gdLst/>
            <a:ahLst/>
            <a:cxnLst/>
            <a:rect l="l" t="t" r="r" b="b"/>
            <a:pathLst>
              <a:path w="1383433" h="1563202">
                <a:moveTo>
                  <a:pt x="0" y="0"/>
                </a:moveTo>
                <a:lnTo>
                  <a:pt x="1383434" y="0"/>
                </a:lnTo>
                <a:lnTo>
                  <a:pt x="1383434" y="1563202"/>
                </a:lnTo>
                <a:lnTo>
                  <a:pt x="0" y="1563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7060218" y="4577111"/>
            <a:ext cx="1610657" cy="1132777"/>
          </a:xfrm>
          <a:custGeom>
            <a:avLst/>
            <a:gdLst/>
            <a:ahLst/>
            <a:cxnLst/>
            <a:rect l="l" t="t" r="r" b="b"/>
            <a:pathLst>
              <a:path w="1610657" h="1132777">
                <a:moveTo>
                  <a:pt x="0" y="0"/>
                </a:moveTo>
                <a:lnTo>
                  <a:pt x="1610656" y="0"/>
                </a:lnTo>
                <a:lnTo>
                  <a:pt x="1610656" y="1132778"/>
                </a:lnTo>
                <a:lnTo>
                  <a:pt x="0" y="1132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234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Freeform 10"/>
          <p:cNvSpPr/>
          <p:nvPr/>
        </p:nvSpPr>
        <p:spPr>
          <a:xfrm>
            <a:off x="7162738" y="6386164"/>
            <a:ext cx="1394525" cy="1262045"/>
          </a:xfrm>
          <a:custGeom>
            <a:avLst/>
            <a:gdLst/>
            <a:ahLst/>
            <a:cxnLst/>
            <a:rect l="l" t="t" r="r" b="b"/>
            <a:pathLst>
              <a:path w="1394525" h="1262045">
                <a:moveTo>
                  <a:pt x="0" y="0"/>
                </a:moveTo>
                <a:lnTo>
                  <a:pt x="1394525" y="0"/>
                </a:lnTo>
                <a:lnTo>
                  <a:pt x="1394525" y="1262045"/>
                </a:lnTo>
                <a:lnTo>
                  <a:pt x="0" y="1262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7865546" y="1082081"/>
            <a:ext cx="9047993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20"/>
              </a:lnSpc>
              <a:spcBef>
                <a:spcPct val="0"/>
              </a:spcBef>
            </a:pPr>
            <a:r>
              <a:rPr lang="en-US" sz="5100" b="1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A Metáfora do ETL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06391" y="2710158"/>
            <a:ext cx="2791435" cy="54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39"/>
              </a:lnSpc>
              <a:spcBef>
                <a:spcPct val="0"/>
              </a:spcBef>
            </a:pPr>
            <a:r>
              <a:rPr lang="en-US" sz="3171" b="1" u="none" spc="-63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Extrair (Extract)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06391" y="4595401"/>
            <a:ext cx="4459025" cy="1110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39"/>
              </a:lnSpc>
              <a:spcBef>
                <a:spcPct val="0"/>
              </a:spcBef>
            </a:pPr>
            <a:r>
              <a:rPr lang="en-US" sz="3171" b="1" spc="-63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Transfo</a:t>
            </a:r>
            <a:r>
              <a:rPr lang="en-US" sz="3171" b="1" u="none" spc="-63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rmar (Transform)</a:t>
            </a:r>
          </a:p>
          <a:p>
            <a:pPr marL="0" lvl="0" indent="0" algn="l">
              <a:lnSpc>
                <a:spcPts val="4439"/>
              </a:lnSpc>
              <a:spcBef>
                <a:spcPct val="0"/>
              </a:spcBef>
            </a:pPr>
            <a:endParaRPr lang="en-US" sz="3171" b="1" u="none" spc="-63">
              <a:solidFill>
                <a:srgbClr val="535151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906391" y="6485336"/>
            <a:ext cx="2791435" cy="54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39"/>
              </a:lnSpc>
              <a:spcBef>
                <a:spcPct val="0"/>
              </a:spcBef>
            </a:pPr>
            <a:r>
              <a:rPr lang="en-US" sz="3171" b="1" spc="-63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</a:t>
            </a:r>
            <a:r>
              <a:rPr lang="en-US" sz="3171" b="1" u="none" spc="-63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rregar (Load)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06391" y="3329687"/>
            <a:ext cx="7967462" cy="54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39"/>
              </a:lnSpc>
              <a:spcBef>
                <a:spcPct val="0"/>
              </a:spcBef>
            </a:pPr>
            <a:r>
              <a:rPr lang="en-US" sz="3171" spc="-63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Busca dos ingredien</a:t>
            </a:r>
            <a:r>
              <a:rPr lang="en-US" sz="3171" u="none" spc="-63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tes originais no mercado.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06391" y="5210175"/>
            <a:ext cx="7967462" cy="54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39"/>
              </a:lnSpc>
              <a:spcBef>
                <a:spcPct val="0"/>
              </a:spcBef>
            </a:pPr>
            <a:r>
              <a:rPr lang="en-US" sz="3171" spc="-63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Limpeza e preparo na</a:t>
            </a:r>
            <a:r>
              <a:rPr lang="en-US" sz="3171" u="none" spc="-63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 cozinha.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06391" y="7100110"/>
            <a:ext cx="7967462" cy="54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39"/>
              </a:lnSpc>
              <a:spcBef>
                <a:spcPct val="0"/>
              </a:spcBef>
            </a:pPr>
            <a:r>
              <a:rPr lang="en-US" sz="3171" spc="-63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Entrega do pra</a:t>
            </a:r>
            <a:r>
              <a:rPr lang="en-US" sz="3171" u="none" spc="-63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to finalizado ao cliente.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6693188">
            <a:off x="13562804" y="-11125380"/>
            <a:ext cx="7392991" cy="18767283"/>
            <a:chOff x="0" y="0"/>
            <a:chExt cx="2354580" cy="59771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5977157"/>
            </a:xfrm>
            <a:custGeom>
              <a:avLst/>
              <a:gdLst/>
              <a:ahLst/>
              <a:cxnLst/>
              <a:rect l="l" t="t" r="r" b="b"/>
              <a:pathLst>
                <a:path w="2353310" h="5977157">
                  <a:moveTo>
                    <a:pt x="784860" y="5909847"/>
                  </a:moveTo>
                  <a:cubicBezTo>
                    <a:pt x="905510" y="5950487"/>
                    <a:pt x="1042670" y="5977157"/>
                    <a:pt x="1177290" y="5977157"/>
                  </a:cubicBezTo>
                  <a:cubicBezTo>
                    <a:pt x="1311910" y="5977157"/>
                    <a:pt x="1441450" y="5954297"/>
                    <a:pt x="1560830" y="5913657"/>
                  </a:cubicBezTo>
                  <a:cubicBezTo>
                    <a:pt x="1563370" y="5912387"/>
                    <a:pt x="1565910" y="5912387"/>
                    <a:pt x="1568450" y="5911117"/>
                  </a:cubicBezTo>
                  <a:cubicBezTo>
                    <a:pt x="2016760" y="5748557"/>
                    <a:pt x="2346960" y="5319297"/>
                    <a:pt x="2353310" y="480808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804422"/>
                  </a:lnTo>
                  <a:cubicBezTo>
                    <a:pt x="6350" y="5321837"/>
                    <a:pt x="331470" y="5751097"/>
                    <a:pt x="784860" y="5909847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1080653">
            <a:off x="16984123" y="3057896"/>
            <a:ext cx="6826178" cy="15690294"/>
            <a:chOff x="0" y="0"/>
            <a:chExt cx="2354580" cy="54121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53310" cy="5412114"/>
            </a:xfrm>
            <a:custGeom>
              <a:avLst/>
              <a:gdLst/>
              <a:ahLst/>
              <a:cxnLst/>
              <a:rect l="l" t="t" r="r" b="b"/>
              <a:pathLst>
                <a:path w="2353310" h="5412114">
                  <a:moveTo>
                    <a:pt x="784860" y="5344804"/>
                  </a:moveTo>
                  <a:cubicBezTo>
                    <a:pt x="905510" y="5385444"/>
                    <a:pt x="1042670" y="5412114"/>
                    <a:pt x="1177290" y="5412114"/>
                  </a:cubicBezTo>
                  <a:cubicBezTo>
                    <a:pt x="1311910" y="5412114"/>
                    <a:pt x="1441450" y="5389254"/>
                    <a:pt x="1560830" y="5348614"/>
                  </a:cubicBezTo>
                  <a:cubicBezTo>
                    <a:pt x="1563370" y="5347344"/>
                    <a:pt x="1565910" y="5347344"/>
                    <a:pt x="1568450" y="5346074"/>
                  </a:cubicBezTo>
                  <a:cubicBezTo>
                    <a:pt x="2016760" y="5183514"/>
                    <a:pt x="2346960" y="4754254"/>
                    <a:pt x="2353310" y="4244779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241552"/>
                  </a:lnTo>
                  <a:cubicBezTo>
                    <a:pt x="6350" y="4756794"/>
                    <a:pt x="331470" y="5186054"/>
                    <a:pt x="784860" y="534480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2008363"/>
            <a:ext cx="15427312" cy="7887213"/>
          </a:xfrm>
          <a:custGeom>
            <a:avLst/>
            <a:gdLst/>
            <a:ahLst/>
            <a:cxnLst/>
            <a:rect l="l" t="t" r="r" b="b"/>
            <a:pathLst>
              <a:path w="15427312" h="7887213">
                <a:moveTo>
                  <a:pt x="0" y="0"/>
                </a:moveTo>
                <a:lnTo>
                  <a:pt x="15427312" y="0"/>
                </a:lnTo>
                <a:lnTo>
                  <a:pt x="15427312" y="7887214"/>
                </a:lnTo>
                <a:lnTo>
                  <a:pt x="0" y="7887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2564293" y="3306991"/>
            <a:ext cx="1255842" cy="2053080"/>
          </a:xfrm>
          <a:custGeom>
            <a:avLst/>
            <a:gdLst/>
            <a:ahLst/>
            <a:cxnLst/>
            <a:rect l="l" t="t" r="r" b="b"/>
            <a:pathLst>
              <a:path w="1255842" h="2053080">
                <a:moveTo>
                  <a:pt x="0" y="0"/>
                </a:moveTo>
                <a:lnTo>
                  <a:pt x="1255842" y="0"/>
                </a:lnTo>
                <a:lnTo>
                  <a:pt x="1255842" y="2053079"/>
                </a:lnTo>
                <a:lnTo>
                  <a:pt x="0" y="20530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6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AutoShape 8"/>
          <p:cNvSpPr/>
          <p:nvPr/>
        </p:nvSpPr>
        <p:spPr>
          <a:xfrm flipH="1" flipV="1">
            <a:off x="3457640" y="2708242"/>
            <a:ext cx="362494" cy="598748"/>
          </a:xfrm>
          <a:prstGeom prst="line">
            <a:avLst/>
          </a:prstGeom>
          <a:ln w="38100" cap="flat">
            <a:solidFill>
              <a:srgbClr val="D7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AutoShape 9"/>
          <p:cNvSpPr/>
          <p:nvPr/>
        </p:nvSpPr>
        <p:spPr>
          <a:xfrm flipV="1">
            <a:off x="2629799" y="2708242"/>
            <a:ext cx="562414" cy="598748"/>
          </a:xfrm>
          <a:prstGeom prst="line">
            <a:avLst/>
          </a:prstGeom>
          <a:ln w="38100" cap="flat">
            <a:solidFill>
              <a:srgbClr val="D7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10" name="Group 10"/>
          <p:cNvGrpSpPr/>
          <p:nvPr/>
        </p:nvGrpSpPr>
        <p:grpSpPr>
          <a:xfrm>
            <a:off x="2629799" y="3306991"/>
            <a:ext cx="1255842" cy="2053080"/>
            <a:chOff x="0" y="0"/>
            <a:chExt cx="330757" cy="5407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30757" cy="540729"/>
            </a:xfrm>
            <a:custGeom>
              <a:avLst/>
              <a:gdLst/>
              <a:ahLst/>
              <a:cxnLst/>
              <a:rect l="l" t="t" r="r" b="b"/>
              <a:pathLst>
                <a:path w="330757" h="540729">
                  <a:moveTo>
                    <a:pt x="0" y="0"/>
                  </a:moveTo>
                  <a:lnTo>
                    <a:pt x="330757" y="0"/>
                  </a:lnTo>
                  <a:lnTo>
                    <a:pt x="330757" y="540729"/>
                  </a:lnTo>
                  <a:lnTo>
                    <a:pt x="0" y="540729"/>
                  </a:lnTo>
                  <a:close/>
                </a:path>
              </a:pathLst>
            </a:custGeom>
            <a:ln w="38100" cap="sq">
              <a:solidFill>
                <a:srgbClr val="D70000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30757" cy="588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81075" y="1020268"/>
            <a:ext cx="3958593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20"/>
              </a:lnSpc>
              <a:spcBef>
                <a:spcPct val="0"/>
              </a:spcBef>
            </a:pPr>
            <a:r>
              <a:rPr lang="en-US" sz="5100" b="1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Obter Dados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340818"/>
            <a:ext cx="279143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</a:t>
            </a:r>
            <a:r>
              <a:rPr lang="en-US" sz="3999" b="1" u="none" spc="-79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asso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6693188">
            <a:off x="13562804" y="-11125380"/>
            <a:ext cx="7392991" cy="18767283"/>
            <a:chOff x="0" y="0"/>
            <a:chExt cx="2354580" cy="59771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5977157"/>
            </a:xfrm>
            <a:custGeom>
              <a:avLst/>
              <a:gdLst/>
              <a:ahLst/>
              <a:cxnLst/>
              <a:rect l="l" t="t" r="r" b="b"/>
              <a:pathLst>
                <a:path w="2353310" h="5977157">
                  <a:moveTo>
                    <a:pt x="784860" y="5909847"/>
                  </a:moveTo>
                  <a:cubicBezTo>
                    <a:pt x="905510" y="5950487"/>
                    <a:pt x="1042670" y="5977157"/>
                    <a:pt x="1177290" y="5977157"/>
                  </a:cubicBezTo>
                  <a:cubicBezTo>
                    <a:pt x="1311910" y="5977157"/>
                    <a:pt x="1441450" y="5954297"/>
                    <a:pt x="1560830" y="5913657"/>
                  </a:cubicBezTo>
                  <a:cubicBezTo>
                    <a:pt x="1563370" y="5912387"/>
                    <a:pt x="1565910" y="5912387"/>
                    <a:pt x="1568450" y="5911117"/>
                  </a:cubicBezTo>
                  <a:cubicBezTo>
                    <a:pt x="2016760" y="5748557"/>
                    <a:pt x="2346960" y="5319297"/>
                    <a:pt x="2353310" y="480808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804422"/>
                  </a:lnTo>
                  <a:cubicBezTo>
                    <a:pt x="6350" y="5321837"/>
                    <a:pt x="331470" y="5751097"/>
                    <a:pt x="784860" y="5909847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1080653">
            <a:off x="16984123" y="3057896"/>
            <a:ext cx="6826178" cy="15690294"/>
            <a:chOff x="0" y="0"/>
            <a:chExt cx="2354580" cy="54121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53310" cy="5412114"/>
            </a:xfrm>
            <a:custGeom>
              <a:avLst/>
              <a:gdLst/>
              <a:ahLst/>
              <a:cxnLst/>
              <a:rect l="l" t="t" r="r" b="b"/>
              <a:pathLst>
                <a:path w="2353310" h="5412114">
                  <a:moveTo>
                    <a:pt x="784860" y="5344804"/>
                  </a:moveTo>
                  <a:cubicBezTo>
                    <a:pt x="905510" y="5385444"/>
                    <a:pt x="1042670" y="5412114"/>
                    <a:pt x="1177290" y="5412114"/>
                  </a:cubicBezTo>
                  <a:cubicBezTo>
                    <a:pt x="1311910" y="5412114"/>
                    <a:pt x="1441450" y="5389254"/>
                    <a:pt x="1560830" y="5348614"/>
                  </a:cubicBezTo>
                  <a:cubicBezTo>
                    <a:pt x="1563370" y="5347344"/>
                    <a:pt x="1565910" y="5347344"/>
                    <a:pt x="1568450" y="5346074"/>
                  </a:cubicBezTo>
                  <a:cubicBezTo>
                    <a:pt x="2016760" y="5183514"/>
                    <a:pt x="2346960" y="4754254"/>
                    <a:pt x="2353310" y="4244779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241552"/>
                  </a:lnTo>
                  <a:cubicBezTo>
                    <a:pt x="6350" y="4756794"/>
                    <a:pt x="331470" y="5186054"/>
                    <a:pt x="784860" y="534480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Freeform 6"/>
          <p:cNvSpPr/>
          <p:nvPr/>
        </p:nvSpPr>
        <p:spPr>
          <a:xfrm>
            <a:off x="981075" y="1982013"/>
            <a:ext cx="15428863" cy="7878363"/>
          </a:xfrm>
          <a:custGeom>
            <a:avLst/>
            <a:gdLst/>
            <a:ahLst/>
            <a:cxnLst/>
            <a:rect l="l" t="t" r="r" b="b"/>
            <a:pathLst>
              <a:path w="15428863" h="7878363">
                <a:moveTo>
                  <a:pt x="0" y="0"/>
                </a:moveTo>
                <a:lnTo>
                  <a:pt x="15428863" y="0"/>
                </a:lnTo>
                <a:lnTo>
                  <a:pt x="15428863" y="7878364"/>
                </a:lnTo>
                <a:lnTo>
                  <a:pt x="0" y="7878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981075" y="1020268"/>
            <a:ext cx="3958593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20"/>
              </a:lnSpc>
              <a:spcBef>
                <a:spcPct val="0"/>
              </a:spcBef>
            </a:pPr>
            <a:r>
              <a:rPr lang="en-US" sz="5100" b="1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Power Query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40818"/>
            <a:ext cx="279143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</a:t>
            </a:r>
            <a:r>
              <a:rPr lang="en-US" sz="3999" b="1" u="none" spc="-79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asso 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44210" y="9840965"/>
            <a:ext cx="430324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Imagem  direta do Microsoft Learning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6693188">
            <a:off x="13562804" y="-11125380"/>
            <a:ext cx="7392991" cy="18767283"/>
            <a:chOff x="0" y="0"/>
            <a:chExt cx="2354580" cy="59771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5977157"/>
            </a:xfrm>
            <a:custGeom>
              <a:avLst/>
              <a:gdLst/>
              <a:ahLst/>
              <a:cxnLst/>
              <a:rect l="l" t="t" r="r" b="b"/>
              <a:pathLst>
                <a:path w="2353310" h="5977157">
                  <a:moveTo>
                    <a:pt x="784860" y="5909847"/>
                  </a:moveTo>
                  <a:cubicBezTo>
                    <a:pt x="905510" y="5950487"/>
                    <a:pt x="1042670" y="5977157"/>
                    <a:pt x="1177290" y="5977157"/>
                  </a:cubicBezTo>
                  <a:cubicBezTo>
                    <a:pt x="1311910" y="5977157"/>
                    <a:pt x="1441450" y="5954297"/>
                    <a:pt x="1560830" y="5913657"/>
                  </a:cubicBezTo>
                  <a:cubicBezTo>
                    <a:pt x="1563370" y="5912387"/>
                    <a:pt x="1565910" y="5912387"/>
                    <a:pt x="1568450" y="5911117"/>
                  </a:cubicBezTo>
                  <a:cubicBezTo>
                    <a:pt x="2016760" y="5748557"/>
                    <a:pt x="2346960" y="5319297"/>
                    <a:pt x="2353310" y="480808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804422"/>
                  </a:lnTo>
                  <a:cubicBezTo>
                    <a:pt x="6350" y="5321837"/>
                    <a:pt x="331470" y="5751097"/>
                    <a:pt x="784860" y="5909847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1080653">
            <a:off x="16984123" y="3057896"/>
            <a:ext cx="6826178" cy="15690294"/>
            <a:chOff x="0" y="0"/>
            <a:chExt cx="2354580" cy="54121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53310" cy="5412114"/>
            </a:xfrm>
            <a:custGeom>
              <a:avLst/>
              <a:gdLst/>
              <a:ahLst/>
              <a:cxnLst/>
              <a:rect l="l" t="t" r="r" b="b"/>
              <a:pathLst>
                <a:path w="2353310" h="5412114">
                  <a:moveTo>
                    <a:pt x="784860" y="5344804"/>
                  </a:moveTo>
                  <a:cubicBezTo>
                    <a:pt x="905510" y="5385444"/>
                    <a:pt x="1042670" y="5412114"/>
                    <a:pt x="1177290" y="5412114"/>
                  </a:cubicBezTo>
                  <a:cubicBezTo>
                    <a:pt x="1311910" y="5412114"/>
                    <a:pt x="1441450" y="5389254"/>
                    <a:pt x="1560830" y="5348614"/>
                  </a:cubicBezTo>
                  <a:cubicBezTo>
                    <a:pt x="1563370" y="5347344"/>
                    <a:pt x="1565910" y="5347344"/>
                    <a:pt x="1568450" y="5346074"/>
                  </a:cubicBezTo>
                  <a:cubicBezTo>
                    <a:pt x="2016760" y="5183514"/>
                    <a:pt x="2346960" y="4754254"/>
                    <a:pt x="2353310" y="4244779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241552"/>
                  </a:lnTo>
                  <a:cubicBezTo>
                    <a:pt x="6350" y="4756794"/>
                    <a:pt x="331470" y="5186054"/>
                    <a:pt x="784860" y="534480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1948201"/>
            <a:ext cx="14763215" cy="7873714"/>
          </a:xfrm>
          <a:custGeom>
            <a:avLst/>
            <a:gdLst/>
            <a:ahLst/>
            <a:cxnLst/>
            <a:rect l="l" t="t" r="r" b="b"/>
            <a:pathLst>
              <a:path w="14763215" h="7873714">
                <a:moveTo>
                  <a:pt x="0" y="0"/>
                </a:moveTo>
                <a:lnTo>
                  <a:pt x="14763215" y="0"/>
                </a:lnTo>
                <a:lnTo>
                  <a:pt x="14763215" y="7873714"/>
                </a:lnTo>
                <a:lnTo>
                  <a:pt x="0" y="7873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981075" y="1020268"/>
            <a:ext cx="3958593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20"/>
              </a:lnSpc>
              <a:spcBef>
                <a:spcPct val="0"/>
              </a:spcBef>
            </a:pPr>
            <a:r>
              <a:rPr lang="en-US" sz="5100" b="1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Visualização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40818"/>
            <a:ext cx="279143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-79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</a:t>
            </a:r>
            <a:r>
              <a:rPr lang="en-US" sz="3999" b="1" u="none" spc="-79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asso 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44210" y="9840965"/>
            <a:ext cx="430324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spc="-40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Imagem  direta do Microsoft Learning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741398">
            <a:off x="10664758" y="-2664614"/>
            <a:ext cx="682527" cy="8284187"/>
            <a:chOff x="0" y="0"/>
            <a:chExt cx="2354580" cy="285787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28578789"/>
            </a:xfrm>
            <a:custGeom>
              <a:avLst/>
              <a:gdLst/>
              <a:ahLst/>
              <a:cxnLst/>
              <a:rect l="l" t="t" r="r" b="b"/>
              <a:pathLst>
                <a:path w="2353310" h="28578789">
                  <a:moveTo>
                    <a:pt x="784860" y="28511478"/>
                  </a:moveTo>
                  <a:cubicBezTo>
                    <a:pt x="905510" y="28552118"/>
                    <a:pt x="1042670" y="28578789"/>
                    <a:pt x="1177290" y="28578789"/>
                  </a:cubicBezTo>
                  <a:cubicBezTo>
                    <a:pt x="1311910" y="28578789"/>
                    <a:pt x="1441450" y="28555928"/>
                    <a:pt x="1560830" y="28515289"/>
                  </a:cubicBezTo>
                  <a:cubicBezTo>
                    <a:pt x="1563370" y="28514018"/>
                    <a:pt x="1565910" y="28514018"/>
                    <a:pt x="1568450" y="28512746"/>
                  </a:cubicBezTo>
                  <a:cubicBezTo>
                    <a:pt x="2016760" y="28350189"/>
                    <a:pt x="2346960" y="27920928"/>
                    <a:pt x="2353310" y="2734017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7319123"/>
                  </a:lnTo>
                  <a:cubicBezTo>
                    <a:pt x="6350" y="27923468"/>
                    <a:pt x="331470" y="28352728"/>
                    <a:pt x="784860" y="2851147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6689207">
            <a:off x="11263159" y="-538177"/>
            <a:ext cx="682527" cy="16959970"/>
            <a:chOff x="0" y="0"/>
            <a:chExt cx="2354580" cy="585085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53310" cy="58508503"/>
            </a:xfrm>
            <a:custGeom>
              <a:avLst/>
              <a:gdLst/>
              <a:ahLst/>
              <a:cxnLst/>
              <a:rect l="l" t="t" r="r" b="b"/>
              <a:pathLst>
                <a:path w="2353310" h="58508503">
                  <a:moveTo>
                    <a:pt x="784860" y="58441196"/>
                  </a:moveTo>
                  <a:cubicBezTo>
                    <a:pt x="905510" y="58481832"/>
                    <a:pt x="1042670" y="58508503"/>
                    <a:pt x="1177290" y="58508503"/>
                  </a:cubicBezTo>
                  <a:cubicBezTo>
                    <a:pt x="1311910" y="58508503"/>
                    <a:pt x="1441450" y="58485646"/>
                    <a:pt x="1560830" y="58445003"/>
                  </a:cubicBezTo>
                  <a:cubicBezTo>
                    <a:pt x="1563370" y="58443732"/>
                    <a:pt x="1565910" y="58443732"/>
                    <a:pt x="1568450" y="58442461"/>
                  </a:cubicBezTo>
                  <a:cubicBezTo>
                    <a:pt x="2016760" y="58279903"/>
                    <a:pt x="2346960" y="57850646"/>
                    <a:pt x="2353310" y="57177800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57133722"/>
                  </a:lnTo>
                  <a:cubicBezTo>
                    <a:pt x="6350" y="57853182"/>
                    <a:pt x="331470" y="58282446"/>
                    <a:pt x="784860" y="58441196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4110792">
            <a:off x="9293480" y="2665973"/>
            <a:ext cx="682527" cy="12102375"/>
            <a:chOff x="0" y="0"/>
            <a:chExt cx="2354580" cy="417507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53310" cy="41750769"/>
            </a:xfrm>
            <a:custGeom>
              <a:avLst/>
              <a:gdLst/>
              <a:ahLst/>
              <a:cxnLst/>
              <a:rect l="l" t="t" r="r" b="b"/>
              <a:pathLst>
                <a:path w="2353310" h="41750769">
                  <a:moveTo>
                    <a:pt x="784860" y="41683462"/>
                  </a:moveTo>
                  <a:cubicBezTo>
                    <a:pt x="905510" y="41724101"/>
                    <a:pt x="1042670" y="41750769"/>
                    <a:pt x="1177290" y="41750769"/>
                  </a:cubicBezTo>
                  <a:cubicBezTo>
                    <a:pt x="1311910" y="41750769"/>
                    <a:pt x="1441450" y="41727912"/>
                    <a:pt x="1560830" y="41687269"/>
                  </a:cubicBezTo>
                  <a:cubicBezTo>
                    <a:pt x="1563370" y="41686001"/>
                    <a:pt x="1565910" y="41686001"/>
                    <a:pt x="1568450" y="41684730"/>
                  </a:cubicBezTo>
                  <a:cubicBezTo>
                    <a:pt x="2016760" y="41522169"/>
                    <a:pt x="2346960" y="41092912"/>
                    <a:pt x="2353310" y="40471626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0440446"/>
                  </a:lnTo>
                  <a:cubicBezTo>
                    <a:pt x="6350" y="41095451"/>
                    <a:pt x="331470" y="41524712"/>
                    <a:pt x="784860" y="41683462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88584" y="4285138"/>
            <a:ext cx="1597071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 spc="-139">
                <a:solidFill>
                  <a:srgbClr val="FFD034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Modelagem &amp; DAX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8584" y="5421145"/>
            <a:ext cx="12007481" cy="152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 spc="-1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Criando relacionamentos e a inteligência do painel.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6693188">
            <a:off x="10509406" y="-10810403"/>
            <a:ext cx="7392991" cy="18767283"/>
            <a:chOff x="0" y="0"/>
            <a:chExt cx="2354580" cy="59771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5977157"/>
            </a:xfrm>
            <a:custGeom>
              <a:avLst/>
              <a:gdLst/>
              <a:ahLst/>
              <a:cxnLst/>
              <a:rect l="l" t="t" r="r" b="b"/>
              <a:pathLst>
                <a:path w="2353310" h="5977157">
                  <a:moveTo>
                    <a:pt x="784860" y="5909847"/>
                  </a:moveTo>
                  <a:cubicBezTo>
                    <a:pt x="905510" y="5950487"/>
                    <a:pt x="1042670" y="5977157"/>
                    <a:pt x="1177290" y="5977157"/>
                  </a:cubicBezTo>
                  <a:cubicBezTo>
                    <a:pt x="1311910" y="5977157"/>
                    <a:pt x="1441450" y="5954297"/>
                    <a:pt x="1560830" y="5913657"/>
                  </a:cubicBezTo>
                  <a:cubicBezTo>
                    <a:pt x="1563370" y="5912387"/>
                    <a:pt x="1565910" y="5912387"/>
                    <a:pt x="1568450" y="5911117"/>
                  </a:cubicBezTo>
                  <a:cubicBezTo>
                    <a:pt x="2016760" y="5748557"/>
                    <a:pt x="2346960" y="5319297"/>
                    <a:pt x="2353310" y="480808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804422"/>
                  </a:lnTo>
                  <a:cubicBezTo>
                    <a:pt x="6350" y="5321837"/>
                    <a:pt x="331470" y="5751097"/>
                    <a:pt x="784860" y="5909847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1080653">
            <a:off x="15938772" y="670890"/>
            <a:ext cx="6826178" cy="15690294"/>
            <a:chOff x="0" y="0"/>
            <a:chExt cx="2354580" cy="54121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53310" cy="5412114"/>
            </a:xfrm>
            <a:custGeom>
              <a:avLst/>
              <a:gdLst/>
              <a:ahLst/>
              <a:cxnLst/>
              <a:rect l="l" t="t" r="r" b="b"/>
              <a:pathLst>
                <a:path w="2353310" h="5412114">
                  <a:moveTo>
                    <a:pt x="784860" y="5344804"/>
                  </a:moveTo>
                  <a:cubicBezTo>
                    <a:pt x="905510" y="5385444"/>
                    <a:pt x="1042670" y="5412114"/>
                    <a:pt x="1177290" y="5412114"/>
                  </a:cubicBezTo>
                  <a:cubicBezTo>
                    <a:pt x="1311910" y="5412114"/>
                    <a:pt x="1441450" y="5389254"/>
                    <a:pt x="1560830" y="5348614"/>
                  </a:cubicBezTo>
                  <a:cubicBezTo>
                    <a:pt x="1563370" y="5347344"/>
                    <a:pt x="1565910" y="5347344"/>
                    <a:pt x="1568450" y="5346074"/>
                  </a:cubicBezTo>
                  <a:cubicBezTo>
                    <a:pt x="2016760" y="5183514"/>
                    <a:pt x="2346960" y="4754254"/>
                    <a:pt x="2353310" y="4244779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241552"/>
                  </a:lnTo>
                  <a:cubicBezTo>
                    <a:pt x="6350" y="4756794"/>
                    <a:pt x="331470" y="5186054"/>
                    <a:pt x="784860" y="534480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53210" y="636062"/>
            <a:ext cx="10434042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20"/>
              </a:lnSpc>
              <a:spcBef>
                <a:spcPct val="0"/>
              </a:spcBef>
            </a:pPr>
            <a:r>
              <a:rPr lang="en-US" sz="5100" b="1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O Segredo da Modelagem: </a:t>
            </a:r>
          </a:p>
          <a:p>
            <a:pPr marL="0" lvl="0" indent="0" algn="l">
              <a:lnSpc>
                <a:spcPts val="6120"/>
              </a:lnSpc>
              <a:spcBef>
                <a:spcPct val="0"/>
              </a:spcBef>
            </a:pPr>
            <a:r>
              <a:rPr lang="en-US" sz="5100" b="1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Star Schema (Esquema Estrela)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3210" y="2617168"/>
            <a:ext cx="14218107" cy="743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spc="-4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 Problema da</a:t>
            </a:r>
            <a:r>
              <a:rPr lang="en-US" sz="2499" b="1" u="none" spc="-4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"Planilhona" (Tabela Única)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Em planilhas tradicionais, costumamos colocar tudo na mesma aba (Data, Vendedor, Cliente, Produto, Valor). No Power BI, isso gera repetição excessiva, lentidão, arquivos pesados e erros de cálculo.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u="none" spc="-49">
              <a:solidFill>
                <a:srgbClr val="535151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pc="-4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Tabelas Fato (O Coração do Negócio - Os Acontecimentos)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Registram os eventos que acontecem ao longo do tempo (ex: Histórico de Vendas, Chamados Abertos, Entradas no Estoque).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São tabelas longas e estreitas: crescem diariamente para baixo (milhares ou milhões de linhas).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Devem conter apenas: Números para somar/contar (quantidades, valores) e Códigos/IDs (para conectar com outras tabelas).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u="none" spc="-49">
              <a:solidFill>
                <a:srgbClr val="535151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pc="-4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Tabelas Dimensão (O Contexto - Os Cadastros)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Respondem às perguntas analíticas: Quem comprou? O que comprou? Onde? Quando? (ex: Cadastro de Clientes, Tabela de Produtos, Calendário).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São tabelas curtas e largas: não possuem linhas repetidas. Cada produto ou cliente aparece uma única vez (Chave Única).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endParaRPr lang="en-US" sz="2499" u="none" spc="-49">
              <a:solidFill>
                <a:srgbClr val="535151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6693188">
            <a:off x="10509406" y="-10810403"/>
            <a:ext cx="7392991" cy="18767283"/>
            <a:chOff x="0" y="0"/>
            <a:chExt cx="2354580" cy="59771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5977157"/>
            </a:xfrm>
            <a:custGeom>
              <a:avLst/>
              <a:gdLst/>
              <a:ahLst/>
              <a:cxnLst/>
              <a:rect l="l" t="t" r="r" b="b"/>
              <a:pathLst>
                <a:path w="2353310" h="5977157">
                  <a:moveTo>
                    <a:pt x="784860" y="5909847"/>
                  </a:moveTo>
                  <a:cubicBezTo>
                    <a:pt x="905510" y="5950487"/>
                    <a:pt x="1042670" y="5977157"/>
                    <a:pt x="1177290" y="5977157"/>
                  </a:cubicBezTo>
                  <a:cubicBezTo>
                    <a:pt x="1311910" y="5977157"/>
                    <a:pt x="1441450" y="5954297"/>
                    <a:pt x="1560830" y="5913657"/>
                  </a:cubicBezTo>
                  <a:cubicBezTo>
                    <a:pt x="1563370" y="5912387"/>
                    <a:pt x="1565910" y="5912387"/>
                    <a:pt x="1568450" y="5911117"/>
                  </a:cubicBezTo>
                  <a:cubicBezTo>
                    <a:pt x="2016760" y="5748557"/>
                    <a:pt x="2346960" y="5319297"/>
                    <a:pt x="2353310" y="480808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804422"/>
                  </a:lnTo>
                  <a:cubicBezTo>
                    <a:pt x="6350" y="5321837"/>
                    <a:pt x="331470" y="5751097"/>
                    <a:pt x="784860" y="5909847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1080653">
            <a:off x="15938772" y="670890"/>
            <a:ext cx="6826178" cy="15690294"/>
            <a:chOff x="0" y="0"/>
            <a:chExt cx="2354580" cy="54121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53310" cy="5412114"/>
            </a:xfrm>
            <a:custGeom>
              <a:avLst/>
              <a:gdLst/>
              <a:ahLst/>
              <a:cxnLst/>
              <a:rect l="l" t="t" r="r" b="b"/>
              <a:pathLst>
                <a:path w="2353310" h="5412114">
                  <a:moveTo>
                    <a:pt x="784860" y="5344804"/>
                  </a:moveTo>
                  <a:cubicBezTo>
                    <a:pt x="905510" y="5385444"/>
                    <a:pt x="1042670" y="5412114"/>
                    <a:pt x="1177290" y="5412114"/>
                  </a:cubicBezTo>
                  <a:cubicBezTo>
                    <a:pt x="1311910" y="5412114"/>
                    <a:pt x="1441450" y="5389254"/>
                    <a:pt x="1560830" y="5348614"/>
                  </a:cubicBezTo>
                  <a:cubicBezTo>
                    <a:pt x="1563370" y="5347344"/>
                    <a:pt x="1565910" y="5347344"/>
                    <a:pt x="1568450" y="5346074"/>
                  </a:cubicBezTo>
                  <a:cubicBezTo>
                    <a:pt x="2016760" y="5183514"/>
                    <a:pt x="2346960" y="4754254"/>
                    <a:pt x="2353310" y="4244779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241552"/>
                  </a:lnTo>
                  <a:cubicBezTo>
                    <a:pt x="6350" y="4756794"/>
                    <a:pt x="331470" y="5186054"/>
                    <a:pt x="784860" y="534480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372400"/>
            <a:ext cx="9047993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20"/>
              </a:lnSpc>
              <a:spcBef>
                <a:spcPct val="0"/>
              </a:spcBef>
            </a:pPr>
            <a:r>
              <a:rPr lang="en-US" sz="5100" b="1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Linguagem DAX (O Cérebro)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3319934"/>
            <a:ext cx="12791724" cy="4292433"/>
            <a:chOff x="0" y="0"/>
            <a:chExt cx="2590279" cy="86920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90279" cy="869202"/>
            </a:xfrm>
            <a:custGeom>
              <a:avLst/>
              <a:gdLst/>
              <a:ahLst/>
              <a:cxnLst/>
              <a:rect l="l" t="t" r="r" b="b"/>
              <a:pathLst>
                <a:path w="2590279" h="869202">
                  <a:moveTo>
                    <a:pt x="17552" y="0"/>
                  </a:moveTo>
                  <a:lnTo>
                    <a:pt x="2572727" y="0"/>
                  </a:lnTo>
                  <a:cubicBezTo>
                    <a:pt x="2582421" y="0"/>
                    <a:pt x="2590279" y="7858"/>
                    <a:pt x="2590279" y="17552"/>
                  </a:cubicBezTo>
                  <a:lnTo>
                    <a:pt x="2590279" y="851651"/>
                  </a:lnTo>
                  <a:cubicBezTo>
                    <a:pt x="2590279" y="861344"/>
                    <a:pt x="2582421" y="869202"/>
                    <a:pt x="2572727" y="869202"/>
                  </a:cubicBezTo>
                  <a:lnTo>
                    <a:pt x="17552" y="869202"/>
                  </a:lnTo>
                  <a:cubicBezTo>
                    <a:pt x="7858" y="869202"/>
                    <a:pt x="0" y="861344"/>
                    <a:pt x="0" y="851651"/>
                  </a:cubicBezTo>
                  <a:lnTo>
                    <a:pt x="0" y="17552"/>
                  </a:lnTo>
                  <a:cubicBezTo>
                    <a:pt x="0" y="7858"/>
                    <a:pt x="7858" y="0"/>
                    <a:pt x="17552" y="0"/>
                  </a:cubicBezTo>
                  <a:close/>
                </a:path>
              </a:pathLst>
            </a:custGeom>
            <a:solidFill>
              <a:srgbClr val="FEF4E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590279" cy="9168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33324" y="3763633"/>
            <a:ext cx="11782476" cy="340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2"/>
              </a:lnSpc>
              <a:spcBef>
                <a:spcPct val="0"/>
              </a:spcBef>
            </a:pPr>
            <a:r>
              <a:rPr lang="en-US" sz="3251" spc="-65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DAX (Data Analysis Expressions) é a</a:t>
            </a:r>
            <a:r>
              <a:rPr lang="en-US" sz="3251" u="none" spc="-65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 linguagem de fórmulas e consultas. Enquanto o Power Query arruma a casa, o DAX faz os cálculos dinâmicos. Utilizamos DAX para criar "Medidas", que são as fórmulas que calculam margens de lucro, crescimento ano a ano, inteligência de tempo e indicadores complexos que interagem com filtros.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6693188">
            <a:off x="10509406" y="-10810403"/>
            <a:ext cx="7392991" cy="18767283"/>
            <a:chOff x="0" y="0"/>
            <a:chExt cx="2354580" cy="59771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5977157"/>
            </a:xfrm>
            <a:custGeom>
              <a:avLst/>
              <a:gdLst/>
              <a:ahLst/>
              <a:cxnLst/>
              <a:rect l="l" t="t" r="r" b="b"/>
              <a:pathLst>
                <a:path w="2353310" h="5977157">
                  <a:moveTo>
                    <a:pt x="784860" y="5909847"/>
                  </a:moveTo>
                  <a:cubicBezTo>
                    <a:pt x="905510" y="5950487"/>
                    <a:pt x="1042670" y="5977157"/>
                    <a:pt x="1177290" y="5977157"/>
                  </a:cubicBezTo>
                  <a:cubicBezTo>
                    <a:pt x="1311910" y="5977157"/>
                    <a:pt x="1441450" y="5954297"/>
                    <a:pt x="1560830" y="5913657"/>
                  </a:cubicBezTo>
                  <a:cubicBezTo>
                    <a:pt x="1563370" y="5912387"/>
                    <a:pt x="1565910" y="5912387"/>
                    <a:pt x="1568450" y="5911117"/>
                  </a:cubicBezTo>
                  <a:cubicBezTo>
                    <a:pt x="2016760" y="5748557"/>
                    <a:pt x="2346960" y="5319297"/>
                    <a:pt x="2353310" y="480808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804422"/>
                  </a:lnTo>
                  <a:cubicBezTo>
                    <a:pt x="6350" y="5321837"/>
                    <a:pt x="331470" y="5751097"/>
                    <a:pt x="784860" y="5909847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1080653">
            <a:off x="15938772" y="670890"/>
            <a:ext cx="6826178" cy="15690294"/>
            <a:chOff x="0" y="0"/>
            <a:chExt cx="2354580" cy="54121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53310" cy="5412114"/>
            </a:xfrm>
            <a:custGeom>
              <a:avLst/>
              <a:gdLst/>
              <a:ahLst/>
              <a:cxnLst/>
              <a:rect l="l" t="t" r="r" b="b"/>
              <a:pathLst>
                <a:path w="2353310" h="5412114">
                  <a:moveTo>
                    <a:pt x="784860" y="5344804"/>
                  </a:moveTo>
                  <a:cubicBezTo>
                    <a:pt x="905510" y="5385444"/>
                    <a:pt x="1042670" y="5412114"/>
                    <a:pt x="1177290" y="5412114"/>
                  </a:cubicBezTo>
                  <a:cubicBezTo>
                    <a:pt x="1311910" y="5412114"/>
                    <a:pt x="1441450" y="5389254"/>
                    <a:pt x="1560830" y="5348614"/>
                  </a:cubicBezTo>
                  <a:cubicBezTo>
                    <a:pt x="1563370" y="5347344"/>
                    <a:pt x="1565910" y="5347344"/>
                    <a:pt x="1568450" y="5346074"/>
                  </a:cubicBezTo>
                  <a:cubicBezTo>
                    <a:pt x="2016760" y="5183514"/>
                    <a:pt x="2346960" y="4754254"/>
                    <a:pt x="2353310" y="4244779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241552"/>
                  </a:lnTo>
                  <a:cubicBezTo>
                    <a:pt x="6350" y="4756794"/>
                    <a:pt x="331470" y="5186054"/>
                    <a:pt x="784860" y="534480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55444" y="571091"/>
            <a:ext cx="107858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1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A Inteligência do DAX</a:t>
            </a:r>
          </a:p>
          <a:p>
            <a:pPr marL="0" lvl="0" indent="0" algn="l">
              <a:lnSpc>
                <a:spcPts val="6120"/>
              </a:lnSpc>
              <a:spcBef>
                <a:spcPct val="0"/>
              </a:spcBef>
            </a:pPr>
            <a:r>
              <a:rPr lang="en-US" sz="5100" b="1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(Medidas vs. Colunas Calculadas)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3210" y="2617168"/>
            <a:ext cx="14218107" cy="699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spc="-4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Colunas Ca</a:t>
            </a:r>
            <a:r>
              <a:rPr lang="en-US" sz="2499" b="1" u="none" spc="-4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lculadas (O Contexto de Linha)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u="none" spc="-49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Como funciona:</a:t>
            </a: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 O Power BI calcula o resultado linha por linha e grava essa nova informação fisicamente no arquivo.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u="none" spc="-49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 Custo:</a:t>
            </a: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 Aumentam drasticamente o tamanho do arquivo e consomem memória RAM do computador.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u="none" spc="-49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Quando usar (Uso Restrito):</a:t>
            </a: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 Apenas quando você precisa criar um novo filtro, categoria ou eixo para um gráfico. (Ex: Juntar Nome + Sobrenome, ou criar uma coluna de "Faixa Etária" com base na idade).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u="none" spc="-49">
              <a:solidFill>
                <a:srgbClr val="535151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pc="-4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Medidas (O Contexto de Filtro)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u="none" spc="-49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Como funciona:</a:t>
            </a: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 São fórmulas virtuais. Elas não armazenam dados no arquivo. O cálculo é feito "na hora" (processamento de CPU) e se adapta instantaneamente sempre que você clica em um filtro ou gráfico.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u="none" spc="-49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 Vantagem:</a:t>
            </a: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 O arquivo continua leve, rápido e a inteligência fica dinâmica.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u="none" spc="-49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Quando usar</a:t>
            </a: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: Sempre que envolver cálculos numéricos! Somas totais, médias, margens de lucro, contagem de clientes ativos, inteligência de tempo (comparar este mês com o mês passado) e metas (KPIs).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endParaRPr lang="en-US" sz="2499" u="none" spc="-49">
              <a:solidFill>
                <a:srgbClr val="535151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741398">
            <a:off x="10664758" y="-2664614"/>
            <a:ext cx="682527" cy="8284187"/>
            <a:chOff x="0" y="0"/>
            <a:chExt cx="2354580" cy="285787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28578789"/>
            </a:xfrm>
            <a:custGeom>
              <a:avLst/>
              <a:gdLst/>
              <a:ahLst/>
              <a:cxnLst/>
              <a:rect l="l" t="t" r="r" b="b"/>
              <a:pathLst>
                <a:path w="2353310" h="28578789">
                  <a:moveTo>
                    <a:pt x="784860" y="28511478"/>
                  </a:moveTo>
                  <a:cubicBezTo>
                    <a:pt x="905510" y="28552118"/>
                    <a:pt x="1042670" y="28578789"/>
                    <a:pt x="1177290" y="28578789"/>
                  </a:cubicBezTo>
                  <a:cubicBezTo>
                    <a:pt x="1311910" y="28578789"/>
                    <a:pt x="1441450" y="28555928"/>
                    <a:pt x="1560830" y="28515289"/>
                  </a:cubicBezTo>
                  <a:cubicBezTo>
                    <a:pt x="1563370" y="28514018"/>
                    <a:pt x="1565910" y="28514018"/>
                    <a:pt x="1568450" y="28512746"/>
                  </a:cubicBezTo>
                  <a:cubicBezTo>
                    <a:pt x="2016760" y="28350189"/>
                    <a:pt x="2346960" y="27920928"/>
                    <a:pt x="2353310" y="2734017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7319123"/>
                  </a:lnTo>
                  <a:cubicBezTo>
                    <a:pt x="6350" y="27923468"/>
                    <a:pt x="331470" y="28352728"/>
                    <a:pt x="784860" y="2851147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6689207">
            <a:off x="11263159" y="-538177"/>
            <a:ext cx="682527" cy="16959970"/>
            <a:chOff x="0" y="0"/>
            <a:chExt cx="2354580" cy="585085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53310" cy="58508503"/>
            </a:xfrm>
            <a:custGeom>
              <a:avLst/>
              <a:gdLst/>
              <a:ahLst/>
              <a:cxnLst/>
              <a:rect l="l" t="t" r="r" b="b"/>
              <a:pathLst>
                <a:path w="2353310" h="58508503">
                  <a:moveTo>
                    <a:pt x="784860" y="58441196"/>
                  </a:moveTo>
                  <a:cubicBezTo>
                    <a:pt x="905510" y="58481832"/>
                    <a:pt x="1042670" y="58508503"/>
                    <a:pt x="1177290" y="58508503"/>
                  </a:cubicBezTo>
                  <a:cubicBezTo>
                    <a:pt x="1311910" y="58508503"/>
                    <a:pt x="1441450" y="58485646"/>
                    <a:pt x="1560830" y="58445003"/>
                  </a:cubicBezTo>
                  <a:cubicBezTo>
                    <a:pt x="1563370" y="58443732"/>
                    <a:pt x="1565910" y="58443732"/>
                    <a:pt x="1568450" y="58442461"/>
                  </a:cubicBezTo>
                  <a:cubicBezTo>
                    <a:pt x="2016760" y="58279903"/>
                    <a:pt x="2346960" y="57850646"/>
                    <a:pt x="2353310" y="57177800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57133722"/>
                  </a:lnTo>
                  <a:cubicBezTo>
                    <a:pt x="6350" y="57853182"/>
                    <a:pt x="331470" y="58282446"/>
                    <a:pt x="784860" y="58441196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4110792">
            <a:off x="9293480" y="2665973"/>
            <a:ext cx="682527" cy="12102375"/>
            <a:chOff x="0" y="0"/>
            <a:chExt cx="2354580" cy="417507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53310" cy="41750769"/>
            </a:xfrm>
            <a:custGeom>
              <a:avLst/>
              <a:gdLst/>
              <a:ahLst/>
              <a:cxnLst/>
              <a:rect l="l" t="t" r="r" b="b"/>
              <a:pathLst>
                <a:path w="2353310" h="41750769">
                  <a:moveTo>
                    <a:pt x="784860" y="41683462"/>
                  </a:moveTo>
                  <a:cubicBezTo>
                    <a:pt x="905510" y="41724101"/>
                    <a:pt x="1042670" y="41750769"/>
                    <a:pt x="1177290" y="41750769"/>
                  </a:cubicBezTo>
                  <a:cubicBezTo>
                    <a:pt x="1311910" y="41750769"/>
                    <a:pt x="1441450" y="41727912"/>
                    <a:pt x="1560830" y="41687269"/>
                  </a:cubicBezTo>
                  <a:cubicBezTo>
                    <a:pt x="1563370" y="41686001"/>
                    <a:pt x="1565910" y="41686001"/>
                    <a:pt x="1568450" y="41684730"/>
                  </a:cubicBezTo>
                  <a:cubicBezTo>
                    <a:pt x="2016760" y="41522169"/>
                    <a:pt x="2346960" y="41092912"/>
                    <a:pt x="2353310" y="40471626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0440446"/>
                  </a:lnTo>
                  <a:cubicBezTo>
                    <a:pt x="6350" y="41095451"/>
                    <a:pt x="331470" y="41524712"/>
                    <a:pt x="784860" y="41683462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88584" y="4285138"/>
            <a:ext cx="1597071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 spc="-139">
                <a:solidFill>
                  <a:srgbClr val="FFD034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Design &amp; Storytelling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8584" y="5421145"/>
            <a:ext cx="12007481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 spc="-1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Como apresentar os dados de forma clara.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3102" y="285741"/>
            <a:ext cx="1596834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20"/>
              </a:lnSpc>
              <a:spcBef>
                <a:spcPct val="0"/>
              </a:spcBef>
            </a:pPr>
            <a:r>
              <a:rPr lang="en-US" sz="5100" b="1" spc="-102">
                <a:solidFill>
                  <a:srgbClr val="1E1E1E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C</a:t>
            </a:r>
            <a:r>
              <a:rPr lang="en-US" sz="5100" b="1" u="none" spc="-102">
                <a:solidFill>
                  <a:srgbClr val="1E1E1E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omponentes e Criação Visual</a:t>
            </a:r>
          </a:p>
        </p:txBody>
      </p:sp>
      <p:sp>
        <p:nvSpPr>
          <p:cNvPr id="3" name="AutoShape 3"/>
          <p:cNvSpPr/>
          <p:nvPr/>
        </p:nvSpPr>
        <p:spPr>
          <a:xfrm rot="-21596">
            <a:off x="415701" y="221451"/>
            <a:ext cx="756935" cy="0"/>
          </a:xfrm>
          <a:prstGeom prst="line">
            <a:avLst/>
          </a:prstGeom>
          <a:ln w="1238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 rot="-21596">
            <a:off x="415701" y="411951"/>
            <a:ext cx="756935" cy="0"/>
          </a:xfrm>
          <a:prstGeom prst="line">
            <a:avLst/>
          </a:prstGeom>
          <a:ln w="1238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1497726" y="1454319"/>
            <a:ext cx="14638322" cy="1848923"/>
            <a:chOff x="0" y="0"/>
            <a:chExt cx="19517763" cy="246523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9517763" cy="2465230"/>
              <a:chOff x="0" y="0"/>
              <a:chExt cx="4086842" cy="51619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086842" cy="516197"/>
              </a:xfrm>
              <a:custGeom>
                <a:avLst/>
                <a:gdLst/>
                <a:ahLst/>
                <a:cxnLst/>
                <a:rect l="l" t="t" r="r" b="b"/>
                <a:pathLst>
                  <a:path w="4086842" h="516197">
                    <a:moveTo>
                      <a:pt x="14469" y="0"/>
                    </a:moveTo>
                    <a:lnTo>
                      <a:pt x="4072374" y="0"/>
                    </a:lnTo>
                    <a:cubicBezTo>
                      <a:pt x="4080365" y="0"/>
                      <a:pt x="4086842" y="6478"/>
                      <a:pt x="4086842" y="14469"/>
                    </a:cubicBezTo>
                    <a:lnTo>
                      <a:pt x="4086842" y="501728"/>
                    </a:lnTo>
                    <a:cubicBezTo>
                      <a:pt x="4086842" y="505565"/>
                      <a:pt x="4085318" y="509246"/>
                      <a:pt x="4082605" y="511959"/>
                    </a:cubicBezTo>
                    <a:cubicBezTo>
                      <a:pt x="4079891" y="514673"/>
                      <a:pt x="4076211" y="516197"/>
                      <a:pt x="4072374" y="516197"/>
                    </a:cubicBezTo>
                    <a:lnTo>
                      <a:pt x="14469" y="516197"/>
                    </a:lnTo>
                    <a:cubicBezTo>
                      <a:pt x="10631" y="516197"/>
                      <a:pt x="6951" y="514673"/>
                      <a:pt x="4238" y="511959"/>
                    </a:cubicBezTo>
                    <a:cubicBezTo>
                      <a:pt x="1524" y="509246"/>
                      <a:pt x="0" y="505565"/>
                      <a:pt x="0" y="501728"/>
                    </a:cubicBezTo>
                    <a:lnTo>
                      <a:pt x="0" y="14469"/>
                    </a:lnTo>
                    <a:cubicBezTo>
                      <a:pt x="0" y="10631"/>
                      <a:pt x="1524" y="6951"/>
                      <a:pt x="4238" y="4238"/>
                    </a:cubicBezTo>
                    <a:cubicBezTo>
                      <a:pt x="6951" y="1524"/>
                      <a:pt x="10631" y="0"/>
                      <a:pt x="14469" y="0"/>
                    </a:cubicBezTo>
                    <a:close/>
                  </a:path>
                </a:pathLst>
              </a:custGeom>
              <a:solidFill>
                <a:srgbClr val="FFD034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47625"/>
                <a:ext cx="4086842" cy="5638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64899" y="0"/>
              <a:ext cx="19352863" cy="2465230"/>
              <a:chOff x="0" y="0"/>
              <a:chExt cx="4052314" cy="51619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052314" cy="516197"/>
              </a:xfrm>
              <a:custGeom>
                <a:avLst/>
                <a:gdLst/>
                <a:ahLst/>
                <a:cxnLst/>
                <a:rect l="l" t="t" r="r" b="b"/>
                <a:pathLst>
                  <a:path w="4052314" h="516197">
                    <a:moveTo>
                      <a:pt x="14592" y="0"/>
                    </a:moveTo>
                    <a:lnTo>
                      <a:pt x="4037722" y="0"/>
                    </a:lnTo>
                    <a:cubicBezTo>
                      <a:pt x="4045781" y="0"/>
                      <a:pt x="4052314" y="6533"/>
                      <a:pt x="4052314" y="14592"/>
                    </a:cubicBezTo>
                    <a:lnTo>
                      <a:pt x="4052314" y="501605"/>
                    </a:lnTo>
                    <a:cubicBezTo>
                      <a:pt x="4052314" y="509664"/>
                      <a:pt x="4045781" y="516197"/>
                      <a:pt x="4037722" y="516197"/>
                    </a:cubicBezTo>
                    <a:lnTo>
                      <a:pt x="14592" y="516197"/>
                    </a:lnTo>
                    <a:cubicBezTo>
                      <a:pt x="6533" y="516197"/>
                      <a:pt x="0" y="509664"/>
                      <a:pt x="0" y="501605"/>
                    </a:cubicBezTo>
                    <a:lnTo>
                      <a:pt x="0" y="14592"/>
                    </a:lnTo>
                    <a:cubicBezTo>
                      <a:pt x="0" y="6533"/>
                      <a:pt x="6533" y="0"/>
                      <a:pt x="14592" y="0"/>
                    </a:cubicBezTo>
                    <a:close/>
                  </a:path>
                </a:pathLst>
              </a:custGeom>
              <a:solidFill>
                <a:srgbClr val="FEF4E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4052314" cy="5638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497726" y="3599763"/>
            <a:ext cx="14638322" cy="1848923"/>
            <a:chOff x="0" y="0"/>
            <a:chExt cx="19517763" cy="246523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9517763" cy="2465230"/>
              <a:chOff x="0" y="0"/>
              <a:chExt cx="4086842" cy="51619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086842" cy="516197"/>
              </a:xfrm>
              <a:custGeom>
                <a:avLst/>
                <a:gdLst/>
                <a:ahLst/>
                <a:cxnLst/>
                <a:rect l="l" t="t" r="r" b="b"/>
                <a:pathLst>
                  <a:path w="4086842" h="516197">
                    <a:moveTo>
                      <a:pt x="14469" y="0"/>
                    </a:moveTo>
                    <a:lnTo>
                      <a:pt x="4072374" y="0"/>
                    </a:lnTo>
                    <a:cubicBezTo>
                      <a:pt x="4080365" y="0"/>
                      <a:pt x="4086842" y="6478"/>
                      <a:pt x="4086842" y="14469"/>
                    </a:cubicBezTo>
                    <a:lnTo>
                      <a:pt x="4086842" y="501728"/>
                    </a:lnTo>
                    <a:cubicBezTo>
                      <a:pt x="4086842" y="505565"/>
                      <a:pt x="4085318" y="509246"/>
                      <a:pt x="4082605" y="511959"/>
                    </a:cubicBezTo>
                    <a:cubicBezTo>
                      <a:pt x="4079891" y="514673"/>
                      <a:pt x="4076211" y="516197"/>
                      <a:pt x="4072374" y="516197"/>
                    </a:cubicBezTo>
                    <a:lnTo>
                      <a:pt x="14469" y="516197"/>
                    </a:lnTo>
                    <a:cubicBezTo>
                      <a:pt x="10631" y="516197"/>
                      <a:pt x="6951" y="514673"/>
                      <a:pt x="4238" y="511959"/>
                    </a:cubicBezTo>
                    <a:cubicBezTo>
                      <a:pt x="1524" y="509246"/>
                      <a:pt x="0" y="505565"/>
                      <a:pt x="0" y="501728"/>
                    </a:cubicBezTo>
                    <a:lnTo>
                      <a:pt x="0" y="14469"/>
                    </a:lnTo>
                    <a:cubicBezTo>
                      <a:pt x="0" y="10631"/>
                      <a:pt x="1524" y="6951"/>
                      <a:pt x="4238" y="4238"/>
                    </a:cubicBezTo>
                    <a:cubicBezTo>
                      <a:pt x="6951" y="1524"/>
                      <a:pt x="10631" y="0"/>
                      <a:pt x="14469" y="0"/>
                    </a:cubicBezTo>
                    <a:close/>
                  </a:path>
                </a:pathLst>
              </a:custGeom>
              <a:solidFill>
                <a:srgbClr val="FFD034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4086842" cy="5638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64899" y="0"/>
              <a:ext cx="19352863" cy="2465230"/>
              <a:chOff x="0" y="0"/>
              <a:chExt cx="4052314" cy="51619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052314" cy="516197"/>
              </a:xfrm>
              <a:custGeom>
                <a:avLst/>
                <a:gdLst/>
                <a:ahLst/>
                <a:cxnLst/>
                <a:rect l="l" t="t" r="r" b="b"/>
                <a:pathLst>
                  <a:path w="4052314" h="516197">
                    <a:moveTo>
                      <a:pt x="14592" y="0"/>
                    </a:moveTo>
                    <a:lnTo>
                      <a:pt x="4037722" y="0"/>
                    </a:lnTo>
                    <a:cubicBezTo>
                      <a:pt x="4045781" y="0"/>
                      <a:pt x="4052314" y="6533"/>
                      <a:pt x="4052314" y="14592"/>
                    </a:cubicBezTo>
                    <a:lnTo>
                      <a:pt x="4052314" y="501605"/>
                    </a:lnTo>
                    <a:cubicBezTo>
                      <a:pt x="4052314" y="509664"/>
                      <a:pt x="4045781" y="516197"/>
                      <a:pt x="4037722" y="516197"/>
                    </a:cubicBezTo>
                    <a:lnTo>
                      <a:pt x="14592" y="516197"/>
                    </a:lnTo>
                    <a:cubicBezTo>
                      <a:pt x="6533" y="516197"/>
                      <a:pt x="0" y="509664"/>
                      <a:pt x="0" y="501605"/>
                    </a:cubicBezTo>
                    <a:lnTo>
                      <a:pt x="0" y="14592"/>
                    </a:lnTo>
                    <a:cubicBezTo>
                      <a:pt x="0" y="6533"/>
                      <a:pt x="6533" y="0"/>
                      <a:pt x="14592" y="0"/>
                    </a:cubicBezTo>
                    <a:close/>
                  </a:path>
                </a:pathLst>
              </a:custGeom>
              <a:solidFill>
                <a:srgbClr val="FEF4E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4052314" cy="5638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1497726" y="5745207"/>
            <a:ext cx="14638322" cy="1848923"/>
            <a:chOff x="0" y="0"/>
            <a:chExt cx="19517763" cy="246523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9517763" cy="2465230"/>
              <a:chOff x="0" y="0"/>
              <a:chExt cx="4086842" cy="516197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086842" cy="516197"/>
              </a:xfrm>
              <a:custGeom>
                <a:avLst/>
                <a:gdLst/>
                <a:ahLst/>
                <a:cxnLst/>
                <a:rect l="l" t="t" r="r" b="b"/>
                <a:pathLst>
                  <a:path w="4086842" h="516197">
                    <a:moveTo>
                      <a:pt x="14469" y="0"/>
                    </a:moveTo>
                    <a:lnTo>
                      <a:pt x="4072374" y="0"/>
                    </a:lnTo>
                    <a:cubicBezTo>
                      <a:pt x="4080365" y="0"/>
                      <a:pt x="4086842" y="6478"/>
                      <a:pt x="4086842" y="14469"/>
                    </a:cubicBezTo>
                    <a:lnTo>
                      <a:pt x="4086842" y="501728"/>
                    </a:lnTo>
                    <a:cubicBezTo>
                      <a:pt x="4086842" y="505565"/>
                      <a:pt x="4085318" y="509246"/>
                      <a:pt x="4082605" y="511959"/>
                    </a:cubicBezTo>
                    <a:cubicBezTo>
                      <a:pt x="4079891" y="514673"/>
                      <a:pt x="4076211" y="516197"/>
                      <a:pt x="4072374" y="516197"/>
                    </a:cubicBezTo>
                    <a:lnTo>
                      <a:pt x="14469" y="516197"/>
                    </a:lnTo>
                    <a:cubicBezTo>
                      <a:pt x="10631" y="516197"/>
                      <a:pt x="6951" y="514673"/>
                      <a:pt x="4238" y="511959"/>
                    </a:cubicBezTo>
                    <a:cubicBezTo>
                      <a:pt x="1524" y="509246"/>
                      <a:pt x="0" y="505565"/>
                      <a:pt x="0" y="501728"/>
                    </a:cubicBezTo>
                    <a:lnTo>
                      <a:pt x="0" y="14469"/>
                    </a:lnTo>
                    <a:cubicBezTo>
                      <a:pt x="0" y="10631"/>
                      <a:pt x="1524" y="6951"/>
                      <a:pt x="4238" y="4238"/>
                    </a:cubicBezTo>
                    <a:cubicBezTo>
                      <a:pt x="6951" y="1524"/>
                      <a:pt x="10631" y="0"/>
                      <a:pt x="14469" y="0"/>
                    </a:cubicBezTo>
                    <a:close/>
                  </a:path>
                </a:pathLst>
              </a:custGeom>
              <a:solidFill>
                <a:srgbClr val="FFD034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47625"/>
                <a:ext cx="4086842" cy="5638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64899" y="0"/>
              <a:ext cx="19352863" cy="2465230"/>
              <a:chOff x="0" y="0"/>
              <a:chExt cx="4052314" cy="516197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052314" cy="516197"/>
              </a:xfrm>
              <a:custGeom>
                <a:avLst/>
                <a:gdLst/>
                <a:ahLst/>
                <a:cxnLst/>
                <a:rect l="l" t="t" r="r" b="b"/>
                <a:pathLst>
                  <a:path w="4052314" h="516197">
                    <a:moveTo>
                      <a:pt x="14592" y="0"/>
                    </a:moveTo>
                    <a:lnTo>
                      <a:pt x="4037722" y="0"/>
                    </a:lnTo>
                    <a:cubicBezTo>
                      <a:pt x="4045781" y="0"/>
                      <a:pt x="4052314" y="6533"/>
                      <a:pt x="4052314" y="14592"/>
                    </a:cubicBezTo>
                    <a:lnTo>
                      <a:pt x="4052314" y="501605"/>
                    </a:lnTo>
                    <a:cubicBezTo>
                      <a:pt x="4052314" y="509664"/>
                      <a:pt x="4045781" y="516197"/>
                      <a:pt x="4037722" y="516197"/>
                    </a:cubicBezTo>
                    <a:lnTo>
                      <a:pt x="14592" y="516197"/>
                    </a:lnTo>
                    <a:cubicBezTo>
                      <a:pt x="6533" y="516197"/>
                      <a:pt x="0" y="509664"/>
                      <a:pt x="0" y="501605"/>
                    </a:cubicBezTo>
                    <a:lnTo>
                      <a:pt x="0" y="14592"/>
                    </a:lnTo>
                    <a:cubicBezTo>
                      <a:pt x="0" y="6533"/>
                      <a:pt x="6533" y="0"/>
                      <a:pt x="14592" y="0"/>
                    </a:cubicBezTo>
                    <a:close/>
                  </a:path>
                </a:pathLst>
              </a:custGeom>
              <a:solidFill>
                <a:srgbClr val="FEF4E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47625"/>
                <a:ext cx="4052314" cy="5638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1497726" y="7890651"/>
            <a:ext cx="14638322" cy="1848923"/>
            <a:chOff x="0" y="0"/>
            <a:chExt cx="19517763" cy="246523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19517763" cy="2465230"/>
              <a:chOff x="0" y="0"/>
              <a:chExt cx="4086842" cy="51619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4086842" cy="516197"/>
              </a:xfrm>
              <a:custGeom>
                <a:avLst/>
                <a:gdLst/>
                <a:ahLst/>
                <a:cxnLst/>
                <a:rect l="l" t="t" r="r" b="b"/>
                <a:pathLst>
                  <a:path w="4086842" h="516197">
                    <a:moveTo>
                      <a:pt x="14469" y="0"/>
                    </a:moveTo>
                    <a:lnTo>
                      <a:pt x="4072374" y="0"/>
                    </a:lnTo>
                    <a:cubicBezTo>
                      <a:pt x="4080365" y="0"/>
                      <a:pt x="4086842" y="6478"/>
                      <a:pt x="4086842" y="14469"/>
                    </a:cubicBezTo>
                    <a:lnTo>
                      <a:pt x="4086842" y="501728"/>
                    </a:lnTo>
                    <a:cubicBezTo>
                      <a:pt x="4086842" y="505565"/>
                      <a:pt x="4085318" y="509246"/>
                      <a:pt x="4082605" y="511959"/>
                    </a:cubicBezTo>
                    <a:cubicBezTo>
                      <a:pt x="4079891" y="514673"/>
                      <a:pt x="4076211" y="516197"/>
                      <a:pt x="4072374" y="516197"/>
                    </a:cubicBezTo>
                    <a:lnTo>
                      <a:pt x="14469" y="516197"/>
                    </a:lnTo>
                    <a:cubicBezTo>
                      <a:pt x="10631" y="516197"/>
                      <a:pt x="6951" y="514673"/>
                      <a:pt x="4238" y="511959"/>
                    </a:cubicBezTo>
                    <a:cubicBezTo>
                      <a:pt x="1524" y="509246"/>
                      <a:pt x="0" y="505565"/>
                      <a:pt x="0" y="501728"/>
                    </a:cubicBezTo>
                    <a:lnTo>
                      <a:pt x="0" y="14469"/>
                    </a:lnTo>
                    <a:cubicBezTo>
                      <a:pt x="0" y="10631"/>
                      <a:pt x="1524" y="6951"/>
                      <a:pt x="4238" y="4238"/>
                    </a:cubicBezTo>
                    <a:cubicBezTo>
                      <a:pt x="6951" y="1524"/>
                      <a:pt x="10631" y="0"/>
                      <a:pt x="14469" y="0"/>
                    </a:cubicBezTo>
                    <a:close/>
                  </a:path>
                </a:pathLst>
              </a:custGeom>
              <a:solidFill>
                <a:srgbClr val="FFD034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4086842" cy="5638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64899" y="0"/>
              <a:ext cx="19352863" cy="2465230"/>
              <a:chOff x="0" y="0"/>
              <a:chExt cx="4052314" cy="51619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4052314" cy="516197"/>
              </a:xfrm>
              <a:custGeom>
                <a:avLst/>
                <a:gdLst/>
                <a:ahLst/>
                <a:cxnLst/>
                <a:rect l="l" t="t" r="r" b="b"/>
                <a:pathLst>
                  <a:path w="4052314" h="516197">
                    <a:moveTo>
                      <a:pt x="14592" y="0"/>
                    </a:moveTo>
                    <a:lnTo>
                      <a:pt x="4037722" y="0"/>
                    </a:lnTo>
                    <a:cubicBezTo>
                      <a:pt x="4045781" y="0"/>
                      <a:pt x="4052314" y="6533"/>
                      <a:pt x="4052314" y="14592"/>
                    </a:cubicBezTo>
                    <a:lnTo>
                      <a:pt x="4052314" y="501605"/>
                    </a:lnTo>
                    <a:cubicBezTo>
                      <a:pt x="4052314" y="509664"/>
                      <a:pt x="4045781" y="516197"/>
                      <a:pt x="4037722" y="516197"/>
                    </a:cubicBezTo>
                    <a:lnTo>
                      <a:pt x="14592" y="516197"/>
                    </a:lnTo>
                    <a:cubicBezTo>
                      <a:pt x="6533" y="516197"/>
                      <a:pt x="0" y="509664"/>
                      <a:pt x="0" y="501605"/>
                    </a:cubicBezTo>
                    <a:lnTo>
                      <a:pt x="0" y="14592"/>
                    </a:lnTo>
                    <a:cubicBezTo>
                      <a:pt x="0" y="6533"/>
                      <a:pt x="6533" y="0"/>
                      <a:pt x="14592" y="0"/>
                    </a:cubicBezTo>
                    <a:close/>
                  </a:path>
                </a:pathLst>
              </a:custGeom>
              <a:solidFill>
                <a:srgbClr val="FEF4E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4052314" cy="5638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 rot="6667975">
            <a:off x="-2242034" y="-105916"/>
            <a:ext cx="4851712" cy="2425856"/>
            <a:chOff x="0" y="0"/>
            <a:chExt cx="660400" cy="330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4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994350" y="1620517"/>
            <a:ext cx="5182486" cy="488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62"/>
              </a:lnSpc>
              <a:spcBef>
                <a:spcPct val="0"/>
              </a:spcBef>
            </a:pPr>
            <a:r>
              <a:rPr lang="en-US" sz="2830" b="1" spc="-56">
                <a:solidFill>
                  <a:srgbClr val="1E1E1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Gráficos</a:t>
            </a:r>
            <a:r>
              <a:rPr lang="en-US" sz="2830" b="1" u="none" spc="-56">
                <a:solidFill>
                  <a:srgbClr val="1E1E1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e Mapas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994350" y="2256084"/>
            <a:ext cx="13928916" cy="81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1"/>
              </a:lnSpc>
              <a:spcBef>
                <a:spcPct val="0"/>
              </a:spcBef>
            </a:pPr>
            <a:r>
              <a:rPr lang="en-US" sz="2358" spc="-47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Identificação</a:t>
            </a:r>
            <a:r>
              <a:rPr lang="en-US" sz="2358" u="none" spc="-47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 visual de tendências e padrões. Barras para comparar, linhas para analisar o tempo, mapas para geolocalização e dispersão para cruzar variáveis.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31663" y="3654287"/>
            <a:ext cx="5182486" cy="488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62"/>
              </a:lnSpc>
              <a:spcBef>
                <a:spcPct val="0"/>
              </a:spcBef>
            </a:pPr>
            <a:r>
              <a:rPr lang="en-US" sz="2830" b="1" spc="-56">
                <a:solidFill>
                  <a:srgbClr val="1E1E1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Cartões</a:t>
            </a:r>
            <a:r>
              <a:rPr lang="en-US" sz="2830" b="1" u="none" spc="-56">
                <a:solidFill>
                  <a:srgbClr val="1E1E1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e Indicadores (KPIs)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852429" y="4292797"/>
            <a:ext cx="13928916" cy="81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1"/>
              </a:lnSpc>
              <a:spcBef>
                <a:spcPct val="0"/>
              </a:spcBef>
            </a:pPr>
            <a:r>
              <a:rPr lang="en-US" sz="2358" spc="-47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A primeira</a:t>
            </a:r>
            <a:r>
              <a:rPr lang="en-US" sz="2358" u="none" spc="-47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 coisa que o gestor olha. Apresentam números absolutos (Total de Vendas, Lucro) e indicam rapidamente se a meta foi ou não atingida.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852429" y="6488015"/>
            <a:ext cx="13928916" cy="81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1"/>
              </a:lnSpc>
              <a:spcBef>
                <a:spcPct val="0"/>
              </a:spcBef>
            </a:pPr>
            <a:r>
              <a:rPr lang="en-US" sz="2358" spc="-47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A interati</a:t>
            </a:r>
            <a:r>
              <a:rPr lang="en-US" sz="2358" u="none" spc="-47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vidade do Power BI. Permitem que o usuário clique em um ano, uma região ou um vendedor, e toda a tela se adapte instantaneamente àquela seleção.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831663" y="8633750"/>
            <a:ext cx="13928916" cy="814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1"/>
              </a:lnSpc>
              <a:spcBef>
                <a:spcPct val="0"/>
              </a:spcBef>
            </a:pPr>
            <a:r>
              <a:rPr lang="en-US" sz="2358" spc="-47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Quando a análise</a:t>
            </a:r>
            <a:r>
              <a:rPr lang="en-US" sz="2358" u="none" spc="-47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 visual pede um aprofundamento, tabelas estruturadas permitem cruzar hierarquias de dados (ex: Ano &gt; Trimestre &gt; Mês &gt; Produto).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852429" y="5903418"/>
            <a:ext cx="5182486" cy="488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62"/>
              </a:lnSpc>
              <a:spcBef>
                <a:spcPct val="0"/>
              </a:spcBef>
            </a:pPr>
            <a:r>
              <a:rPr lang="en-US" sz="2830" b="1" spc="-56">
                <a:solidFill>
                  <a:srgbClr val="1E1E1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Filtros</a:t>
            </a:r>
            <a:r>
              <a:rPr lang="en-US" sz="2830" b="1" u="none" spc="-56">
                <a:solidFill>
                  <a:srgbClr val="1E1E1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e Segmentações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852429" y="8067124"/>
            <a:ext cx="5182486" cy="488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62"/>
              </a:lnSpc>
              <a:spcBef>
                <a:spcPct val="0"/>
              </a:spcBef>
            </a:pPr>
            <a:r>
              <a:rPr lang="en-US" sz="2830" b="1" spc="-56">
                <a:solidFill>
                  <a:srgbClr val="1E1E1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Matrizes</a:t>
            </a:r>
            <a:r>
              <a:rPr lang="en-US" sz="2830" b="1" u="none" spc="-56">
                <a:solidFill>
                  <a:srgbClr val="1E1E1E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e Visões Detalhadas</a:t>
            </a:r>
          </a:p>
        </p:txBody>
      </p:sp>
      <p:grpSp>
        <p:nvGrpSpPr>
          <p:cNvPr id="44" name="Group 44"/>
          <p:cNvGrpSpPr/>
          <p:nvPr/>
        </p:nvGrpSpPr>
        <p:grpSpPr>
          <a:xfrm rot="-5400000">
            <a:off x="15443973" y="6416655"/>
            <a:ext cx="4709898" cy="2354949"/>
            <a:chOff x="0" y="0"/>
            <a:chExt cx="660400" cy="330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7000" y="-12700"/>
              <a:ext cx="406400" cy="203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64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2628" y="1028700"/>
            <a:ext cx="1596834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20"/>
              </a:lnSpc>
              <a:spcBef>
                <a:spcPct val="0"/>
              </a:spcBef>
            </a:pPr>
            <a:r>
              <a:rPr lang="en-US" sz="5100" b="1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Visual Design &amp; St</a:t>
            </a:r>
            <a:r>
              <a:rPr lang="en-US" sz="5100" b="1" u="none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orytelling com Dados</a:t>
            </a:r>
          </a:p>
        </p:txBody>
      </p:sp>
      <p:sp>
        <p:nvSpPr>
          <p:cNvPr id="3" name="AutoShape 3"/>
          <p:cNvSpPr/>
          <p:nvPr/>
        </p:nvSpPr>
        <p:spPr>
          <a:xfrm rot="-21596">
            <a:off x="415701" y="221451"/>
            <a:ext cx="756935" cy="0"/>
          </a:xfrm>
          <a:prstGeom prst="line">
            <a:avLst/>
          </a:prstGeom>
          <a:ln w="1238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 rot="-21596">
            <a:off x="415701" y="411951"/>
            <a:ext cx="756935" cy="0"/>
          </a:xfrm>
          <a:prstGeom prst="line">
            <a:avLst/>
          </a:prstGeom>
          <a:ln w="1238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 rot="-4254761">
            <a:off x="-9781522" y="-4266797"/>
            <a:ext cx="12065377" cy="12046073"/>
            <a:chOff x="0" y="0"/>
            <a:chExt cx="6350000" cy="6339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922866" y="2172938"/>
            <a:ext cx="14218107" cy="7870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spc="-4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 Regr</a:t>
            </a:r>
            <a:r>
              <a:rPr lang="en-US" sz="2499" b="1" u="none" spc="-4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 dos 5 Segundos e a Carga Cognitiva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Se um gestor olhar para o seu painel e não conseguir entender o panorama geral (se o cenário é positivo ou negativo) em até 5 segundos, o design falhou.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Menos é mais: Remova fundos desnecessários, bordas pesadas e excesso de rótulos. Deixe os dados respirarem.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u="none" spc="-49">
              <a:solidFill>
                <a:srgbClr val="535151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pc="-4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 Padrão de Leitura (A Hierarquia Visual em Z):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u="none" spc="-49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 olho humano percorre telas ocidentais da esquerda para a direita, de cima para baixo.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u="none" spc="-49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Topo (Esquerda):</a:t>
            </a: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 O indicador mais crítico (Ex: Faturamento Total) e filtros principais.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u="none" spc="-49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Centro: </a:t>
            </a: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Gráficos de evolução (linhas) e grandes comparações (barras).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u="none" spc="-49">
                <a:solidFill>
                  <a:srgbClr val="535151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Base:</a:t>
            </a: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 Tabelas e matrizes para detalhamento granular (para quem quer investigar a fundo).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u="none" spc="-49">
              <a:solidFill>
                <a:srgbClr val="535151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u="none" spc="-4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 Uso Estratégico (e não decorativo) das Cores: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Não utilize o "efeito arco-íris" ou gráficos de pizza com 15 fatias coloridas.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Use cores neutras (como tons de cinza ou azul-escuro) para a base estrutural.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u="none" spc="-49">
                <a:solidFill>
                  <a:srgbClr val="535151"/>
                </a:solidFill>
                <a:latin typeface="HK Grotesk"/>
                <a:ea typeface="HK Grotesk"/>
                <a:cs typeface="HK Grotesk"/>
                <a:sym typeface="HK Grotesk"/>
              </a:rPr>
              <a:t>Reserve as cores vibrantes (Vermelho, Verde, Laranja) exclusivamente para contar uma história: destacar um mês que bateu o recorde de vendas ou alertar para uma despesa que estourou o orçamento.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741398">
            <a:off x="10664758" y="-2664614"/>
            <a:ext cx="682527" cy="8284187"/>
            <a:chOff x="0" y="0"/>
            <a:chExt cx="2354580" cy="285787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28578789"/>
            </a:xfrm>
            <a:custGeom>
              <a:avLst/>
              <a:gdLst/>
              <a:ahLst/>
              <a:cxnLst/>
              <a:rect l="l" t="t" r="r" b="b"/>
              <a:pathLst>
                <a:path w="2353310" h="28578789">
                  <a:moveTo>
                    <a:pt x="784860" y="28511478"/>
                  </a:moveTo>
                  <a:cubicBezTo>
                    <a:pt x="905510" y="28552118"/>
                    <a:pt x="1042670" y="28578789"/>
                    <a:pt x="1177290" y="28578789"/>
                  </a:cubicBezTo>
                  <a:cubicBezTo>
                    <a:pt x="1311910" y="28578789"/>
                    <a:pt x="1441450" y="28555928"/>
                    <a:pt x="1560830" y="28515289"/>
                  </a:cubicBezTo>
                  <a:cubicBezTo>
                    <a:pt x="1563370" y="28514018"/>
                    <a:pt x="1565910" y="28514018"/>
                    <a:pt x="1568450" y="28512746"/>
                  </a:cubicBezTo>
                  <a:cubicBezTo>
                    <a:pt x="2016760" y="28350189"/>
                    <a:pt x="2346960" y="27920928"/>
                    <a:pt x="2353310" y="2734017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27319123"/>
                  </a:lnTo>
                  <a:cubicBezTo>
                    <a:pt x="6350" y="27923468"/>
                    <a:pt x="331470" y="28352728"/>
                    <a:pt x="784860" y="2851147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6689207">
            <a:off x="11263159" y="-538177"/>
            <a:ext cx="682527" cy="16959970"/>
            <a:chOff x="0" y="0"/>
            <a:chExt cx="2354580" cy="585085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53310" cy="58508503"/>
            </a:xfrm>
            <a:custGeom>
              <a:avLst/>
              <a:gdLst/>
              <a:ahLst/>
              <a:cxnLst/>
              <a:rect l="l" t="t" r="r" b="b"/>
              <a:pathLst>
                <a:path w="2353310" h="58508503">
                  <a:moveTo>
                    <a:pt x="784860" y="58441196"/>
                  </a:moveTo>
                  <a:cubicBezTo>
                    <a:pt x="905510" y="58481832"/>
                    <a:pt x="1042670" y="58508503"/>
                    <a:pt x="1177290" y="58508503"/>
                  </a:cubicBezTo>
                  <a:cubicBezTo>
                    <a:pt x="1311910" y="58508503"/>
                    <a:pt x="1441450" y="58485646"/>
                    <a:pt x="1560830" y="58445003"/>
                  </a:cubicBezTo>
                  <a:cubicBezTo>
                    <a:pt x="1563370" y="58443732"/>
                    <a:pt x="1565910" y="58443732"/>
                    <a:pt x="1568450" y="58442461"/>
                  </a:cubicBezTo>
                  <a:cubicBezTo>
                    <a:pt x="2016760" y="58279903"/>
                    <a:pt x="2346960" y="57850646"/>
                    <a:pt x="2353310" y="57177800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57133722"/>
                  </a:lnTo>
                  <a:cubicBezTo>
                    <a:pt x="6350" y="57853182"/>
                    <a:pt x="331470" y="58282446"/>
                    <a:pt x="784860" y="58441196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4110792">
            <a:off x="9293480" y="2665973"/>
            <a:ext cx="682527" cy="12102375"/>
            <a:chOff x="0" y="0"/>
            <a:chExt cx="2354580" cy="417507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53310" cy="41750769"/>
            </a:xfrm>
            <a:custGeom>
              <a:avLst/>
              <a:gdLst/>
              <a:ahLst/>
              <a:cxnLst/>
              <a:rect l="l" t="t" r="r" b="b"/>
              <a:pathLst>
                <a:path w="2353310" h="41750769">
                  <a:moveTo>
                    <a:pt x="784860" y="41683462"/>
                  </a:moveTo>
                  <a:cubicBezTo>
                    <a:pt x="905510" y="41724101"/>
                    <a:pt x="1042670" y="41750769"/>
                    <a:pt x="1177290" y="41750769"/>
                  </a:cubicBezTo>
                  <a:cubicBezTo>
                    <a:pt x="1311910" y="41750769"/>
                    <a:pt x="1441450" y="41727912"/>
                    <a:pt x="1560830" y="41687269"/>
                  </a:cubicBezTo>
                  <a:cubicBezTo>
                    <a:pt x="1563370" y="41686001"/>
                    <a:pt x="1565910" y="41686001"/>
                    <a:pt x="1568450" y="41684730"/>
                  </a:cubicBezTo>
                  <a:cubicBezTo>
                    <a:pt x="2016760" y="41522169"/>
                    <a:pt x="2346960" y="41092912"/>
                    <a:pt x="2353310" y="40471626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0440446"/>
                  </a:lnTo>
                  <a:cubicBezTo>
                    <a:pt x="6350" y="41095451"/>
                    <a:pt x="331470" y="41524712"/>
                    <a:pt x="784860" y="41683462"/>
                  </a:cubicBezTo>
                  <a:close/>
                </a:path>
              </a:pathLst>
            </a:custGeom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88584" y="4285138"/>
            <a:ext cx="1597071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 spc="-139">
                <a:solidFill>
                  <a:srgbClr val="FFD034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Mão na Massa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8584" y="5421145"/>
            <a:ext cx="12007481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 spc="-1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Nosso desafio prático.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254761">
            <a:off x="11674262" y="3560874"/>
            <a:ext cx="9609403" cy="9594028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172628" y="1028700"/>
            <a:ext cx="1596834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20"/>
              </a:lnSpc>
              <a:spcBef>
                <a:spcPct val="0"/>
              </a:spcBef>
            </a:pPr>
            <a:r>
              <a:rPr lang="en-US" sz="5100" b="1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Mã</a:t>
            </a:r>
            <a:r>
              <a:rPr lang="en-US" sz="5100" b="1" u="none" spc="-102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o na Massa!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19008" y="2887423"/>
            <a:ext cx="15340292" cy="3583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94"/>
              </a:lnSpc>
            </a:pPr>
            <a:r>
              <a:rPr lang="en-US" sz="2925">
                <a:solidFill>
                  <a:srgbClr val="535151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 desafio de hoje: como transformar uma grande quantidade de dados brutos em uma informação que um gestor consiga entender em poucos segundos?</a:t>
            </a:r>
          </a:p>
          <a:p>
            <a:pPr algn="just">
              <a:lnSpc>
                <a:spcPts val="4094"/>
              </a:lnSpc>
            </a:pPr>
            <a:endParaRPr lang="en-US" sz="2925">
              <a:solidFill>
                <a:srgbClr val="535151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  <a:p>
            <a:pPr algn="just">
              <a:lnSpc>
                <a:spcPts val="4094"/>
              </a:lnSpc>
            </a:pPr>
            <a:r>
              <a:rPr lang="en-US" sz="2925">
                <a:solidFill>
                  <a:srgbClr val="535151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Vocês irão receber uma base de dados real, realizaram o tratamento no Power Query, e contruiram o modelo e suas primeiras medidas em DAX.</a:t>
            </a:r>
          </a:p>
          <a:p>
            <a:pPr algn="just">
              <a:lnSpc>
                <a:spcPts val="4094"/>
              </a:lnSpc>
            </a:pPr>
            <a:endParaRPr lang="en-US" sz="2925">
              <a:solidFill>
                <a:srgbClr val="535151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  <a:p>
            <a:pPr algn="just">
              <a:lnSpc>
                <a:spcPts val="4094"/>
              </a:lnSpc>
            </a:pPr>
            <a:r>
              <a:rPr lang="en-US" sz="2925">
                <a:solidFill>
                  <a:srgbClr val="535151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Ao final, desenvolveremos um dashboard interativo focado no resultado.</a:t>
            </a:r>
          </a:p>
        </p:txBody>
      </p:sp>
      <p:sp>
        <p:nvSpPr>
          <p:cNvPr id="6" name="AutoShape 6"/>
          <p:cNvSpPr/>
          <p:nvPr/>
        </p:nvSpPr>
        <p:spPr>
          <a:xfrm rot="-21596">
            <a:off x="415701" y="221451"/>
            <a:ext cx="756935" cy="0"/>
          </a:xfrm>
          <a:prstGeom prst="line">
            <a:avLst/>
          </a:prstGeom>
          <a:ln w="1238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AutoShape 7"/>
          <p:cNvSpPr/>
          <p:nvPr/>
        </p:nvSpPr>
        <p:spPr>
          <a:xfrm rot="-21596">
            <a:off x="415701" y="411951"/>
            <a:ext cx="756935" cy="0"/>
          </a:xfrm>
          <a:prstGeom prst="line">
            <a:avLst/>
          </a:prstGeom>
          <a:ln w="1238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8" name="Group 8"/>
          <p:cNvGrpSpPr/>
          <p:nvPr/>
        </p:nvGrpSpPr>
        <p:grpSpPr>
          <a:xfrm rot="-4254761">
            <a:off x="-10604489" y="-4608574"/>
            <a:ext cx="12065377" cy="12046073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6693188">
            <a:off x="10509406" y="-10810403"/>
            <a:ext cx="7392991" cy="18767283"/>
            <a:chOff x="0" y="0"/>
            <a:chExt cx="2354580" cy="59771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53310" cy="5977157"/>
            </a:xfrm>
            <a:custGeom>
              <a:avLst/>
              <a:gdLst/>
              <a:ahLst/>
              <a:cxnLst/>
              <a:rect l="l" t="t" r="r" b="b"/>
              <a:pathLst>
                <a:path w="2353310" h="5977157">
                  <a:moveTo>
                    <a:pt x="784860" y="5909847"/>
                  </a:moveTo>
                  <a:cubicBezTo>
                    <a:pt x="905510" y="5950487"/>
                    <a:pt x="1042670" y="5977157"/>
                    <a:pt x="1177290" y="5977157"/>
                  </a:cubicBezTo>
                  <a:cubicBezTo>
                    <a:pt x="1311910" y="5977157"/>
                    <a:pt x="1441450" y="5954297"/>
                    <a:pt x="1560830" y="5913657"/>
                  </a:cubicBezTo>
                  <a:cubicBezTo>
                    <a:pt x="1563370" y="5912387"/>
                    <a:pt x="1565910" y="5912387"/>
                    <a:pt x="1568450" y="5911117"/>
                  </a:cubicBezTo>
                  <a:cubicBezTo>
                    <a:pt x="2016760" y="5748557"/>
                    <a:pt x="2346960" y="5319297"/>
                    <a:pt x="2353310" y="480808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804422"/>
                  </a:lnTo>
                  <a:cubicBezTo>
                    <a:pt x="6350" y="5321837"/>
                    <a:pt x="331470" y="5751097"/>
                    <a:pt x="784860" y="5909847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1080653">
            <a:off x="15938772" y="670890"/>
            <a:ext cx="6826178" cy="15690294"/>
            <a:chOff x="0" y="0"/>
            <a:chExt cx="2354580" cy="54121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53310" cy="5412114"/>
            </a:xfrm>
            <a:custGeom>
              <a:avLst/>
              <a:gdLst/>
              <a:ahLst/>
              <a:cxnLst/>
              <a:rect l="l" t="t" r="r" b="b"/>
              <a:pathLst>
                <a:path w="2353310" h="5412114">
                  <a:moveTo>
                    <a:pt x="784860" y="5344804"/>
                  </a:moveTo>
                  <a:cubicBezTo>
                    <a:pt x="905510" y="5385444"/>
                    <a:pt x="1042670" y="5412114"/>
                    <a:pt x="1177290" y="5412114"/>
                  </a:cubicBezTo>
                  <a:cubicBezTo>
                    <a:pt x="1311910" y="5412114"/>
                    <a:pt x="1441450" y="5389254"/>
                    <a:pt x="1560830" y="5348614"/>
                  </a:cubicBezTo>
                  <a:cubicBezTo>
                    <a:pt x="1563370" y="5347344"/>
                    <a:pt x="1565910" y="5347344"/>
                    <a:pt x="1568450" y="5346074"/>
                  </a:cubicBezTo>
                  <a:cubicBezTo>
                    <a:pt x="2016760" y="5183514"/>
                    <a:pt x="2346960" y="4754254"/>
                    <a:pt x="2353310" y="4244779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241552"/>
                  </a:lnTo>
                  <a:cubicBezTo>
                    <a:pt x="6350" y="4756794"/>
                    <a:pt x="331470" y="5186054"/>
                    <a:pt x="784860" y="5344804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3946403"/>
            <a:ext cx="14288991" cy="2394195"/>
            <a:chOff x="0" y="0"/>
            <a:chExt cx="19051989" cy="3192260"/>
          </a:xfrm>
        </p:grpSpPr>
        <p:sp>
          <p:nvSpPr>
            <p:cNvPr id="7" name="TextBox 7"/>
            <p:cNvSpPr txBox="1"/>
            <p:nvPr/>
          </p:nvSpPr>
          <p:spPr>
            <a:xfrm>
              <a:off x="375388" y="2075718"/>
              <a:ext cx="18676600" cy="1116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000"/>
                </a:lnSpc>
                <a:spcBef>
                  <a:spcPct val="0"/>
                </a:spcBef>
              </a:pPr>
              <a:r>
                <a:rPr lang="en-US" sz="5000" b="1" i="1">
                  <a:solidFill>
                    <a:srgbClr val="1E1E1E"/>
                  </a:solidFill>
                  <a:latin typeface="HK Grotesk Bold Italics"/>
                  <a:ea typeface="HK Grotesk Bold Italics"/>
                  <a:cs typeface="HK Grotesk Bold Italics"/>
                  <a:sym typeface="HK Grotesk Bold Italics"/>
                </a:rPr>
                <a:t>“Qu</a:t>
              </a:r>
              <a:r>
                <a:rPr lang="en-US" sz="5000" b="1" i="1" u="none">
                  <a:solidFill>
                    <a:srgbClr val="1E1E1E"/>
                  </a:solidFill>
                  <a:latin typeface="HK Grotesk Bold Italics"/>
                  <a:ea typeface="HK Grotesk Bold Italics"/>
                  <a:cs typeface="HK Grotesk Bold Italics"/>
                  <a:sym typeface="HK Grotesk Bold Italics"/>
                </a:rPr>
                <a:t>e decisão este dashboard ajuda a tomar?”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9051989" cy="1676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9929"/>
                </a:lnSpc>
                <a:spcBef>
                  <a:spcPct val="0"/>
                </a:spcBef>
              </a:pPr>
              <a:r>
                <a:rPr lang="en-US" sz="8274" b="1" spc="-165">
                  <a:solidFill>
                    <a:srgbClr val="FFD034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A Pergunta de Ouro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254761">
            <a:off x="9776701" y="3820758"/>
            <a:ext cx="9609403" cy="9594028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974055" y="7628656"/>
            <a:ext cx="8813293" cy="1262156"/>
            <a:chOff x="0" y="0"/>
            <a:chExt cx="2321197" cy="332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21197" cy="332420"/>
            </a:xfrm>
            <a:custGeom>
              <a:avLst/>
              <a:gdLst/>
              <a:ahLst/>
              <a:cxnLst/>
              <a:rect l="l" t="t" r="r" b="b"/>
              <a:pathLst>
                <a:path w="2321197" h="332420">
                  <a:moveTo>
                    <a:pt x="44800" y="0"/>
                  </a:moveTo>
                  <a:lnTo>
                    <a:pt x="2276397" y="0"/>
                  </a:lnTo>
                  <a:cubicBezTo>
                    <a:pt x="2301139" y="0"/>
                    <a:pt x="2321197" y="20058"/>
                    <a:pt x="2321197" y="44800"/>
                  </a:cubicBezTo>
                  <a:lnTo>
                    <a:pt x="2321197" y="287619"/>
                  </a:lnTo>
                  <a:cubicBezTo>
                    <a:pt x="2321197" y="312362"/>
                    <a:pt x="2301139" y="332420"/>
                    <a:pt x="2276397" y="332420"/>
                  </a:cubicBezTo>
                  <a:lnTo>
                    <a:pt x="44800" y="332420"/>
                  </a:lnTo>
                  <a:cubicBezTo>
                    <a:pt x="32919" y="332420"/>
                    <a:pt x="21523" y="327700"/>
                    <a:pt x="13122" y="319298"/>
                  </a:cubicBezTo>
                  <a:cubicBezTo>
                    <a:pt x="4720" y="310896"/>
                    <a:pt x="0" y="299501"/>
                    <a:pt x="0" y="287619"/>
                  </a:cubicBezTo>
                  <a:lnTo>
                    <a:pt x="0" y="44800"/>
                  </a:lnTo>
                  <a:cubicBezTo>
                    <a:pt x="0" y="20058"/>
                    <a:pt x="20058" y="0"/>
                    <a:pt x="44800" y="0"/>
                  </a:cubicBez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321197" cy="380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477997" y="2527173"/>
            <a:ext cx="9332006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59"/>
              </a:lnSpc>
            </a:pPr>
            <a:r>
              <a:rPr lang="en-US" sz="8799" b="1" spc="-175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Vamos </a:t>
            </a:r>
            <a:r>
              <a:rPr lang="en-US" sz="8799" b="1" spc="-175" dirty="0" err="1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Começar</a:t>
            </a:r>
            <a:r>
              <a:rPr lang="en-US" sz="8799" b="1" spc="-175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62200" y="4412856"/>
            <a:ext cx="16089797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</a:pPr>
            <a:r>
              <a:rPr lang="en-US" sz="3500" spc="-70" dirty="0">
                <a:solidFill>
                  <a:srgbClr val="53515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Abram o </a:t>
            </a:r>
            <a:r>
              <a:rPr lang="en-US" sz="3500" spc="-70" dirty="0" err="1">
                <a:solidFill>
                  <a:srgbClr val="53515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PowerBI</a:t>
            </a:r>
            <a:r>
              <a:rPr lang="en-US" sz="3500" spc="-70" dirty="0">
                <a:solidFill>
                  <a:srgbClr val="53515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</a:t>
            </a:r>
            <a:r>
              <a:rPr lang="en-US" sz="3500" spc="-70" dirty="0" err="1">
                <a:solidFill>
                  <a:srgbClr val="53515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baixem</a:t>
            </a:r>
            <a:r>
              <a:rPr lang="en-US" sz="3500" spc="-70" dirty="0">
                <a:solidFill>
                  <a:srgbClr val="53515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a base de dados e </a:t>
            </a:r>
            <a:r>
              <a:rPr lang="en-US" sz="3500" spc="-70" dirty="0" err="1">
                <a:solidFill>
                  <a:srgbClr val="53515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preparem</a:t>
            </a:r>
            <a:r>
              <a:rPr lang="en-US" sz="3500" spc="-70" dirty="0">
                <a:solidFill>
                  <a:srgbClr val="53515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-se para a </a:t>
            </a:r>
            <a:r>
              <a:rPr lang="en-US" sz="3500" spc="-70" dirty="0" err="1">
                <a:solidFill>
                  <a:srgbClr val="53515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prática</a:t>
            </a:r>
            <a:r>
              <a:rPr lang="en-US" sz="3500" spc="-70" dirty="0">
                <a:solidFill>
                  <a:srgbClr val="53515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09338" y="8016846"/>
            <a:ext cx="8661439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</a:pPr>
            <a:r>
              <a:rPr lang="en-US" sz="3200" spc="-6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Dúvidas? Levante a mão durante a prática!</a:t>
            </a:r>
          </a:p>
        </p:txBody>
      </p:sp>
      <p:grpSp>
        <p:nvGrpSpPr>
          <p:cNvPr id="10" name="Group 10"/>
          <p:cNvGrpSpPr/>
          <p:nvPr/>
        </p:nvGrpSpPr>
        <p:grpSpPr>
          <a:xfrm rot="-4254761">
            <a:off x="-8067882" y="-3768314"/>
            <a:ext cx="9609403" cy="9594028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254761">
            <a:off x="-8067882" y="-3768314"/>
            <a:ext cx="9609403" cy="9594028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9382227" y="3253239"/>
            <a:ext cx="8115300" cy="3780522"/>
          </a:xfrm>
          <a:custGeom>
            <a:avLst/>
            <a:gdLst/>
            <a:ahLst/>
            <a:cxnLst/>
            <a:rect l="l" t="t" r="r" b="b"/>
            <a:pathLst>
              <a:path w="8115300" h="3780522">
                <a:moveTo>
                  <a:pt x="0" y="0"/>
                </a:moveTo>
                <a:lnTo>
                  <a:pt x="8115300" y="0"/>
                </a:lnTo>
                <a:lnTo>
                  <a:pt x="8115300" y="3780522"/>
                </a:lnTo>
                <a:lnTo>
                  <a:pt x="0" y="37805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270959" y="3253239"/>
            <a:ext cx="7873041" cy="3884671"/>
          </a:xfrm>
          <a:custGeom>
            <a:avLst/>
            <a:gdLst/>
            <a:ahLst/>
            <a:cxnLst/>
            <a:rect l="l" t="t" r="r" b="b"/>
            <a:pathLst>
              <a:path w="7873041" h="3884671">
                <a:moveTo>
                  <a:pt x="0" y="0"/>
                </a:moveTo>
                <a:lnTo>
                  <a:pt x="7873041" y="0"/>
                </a:lnTo>
                <a:lnTo>
                  <a:pt x="7873041" y="3884671"/>
                </a:lnTo>
                <a:lnTo>
                  <a:pt x="0" y="3884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4477997" y="1019175"/>
            <a:ext cx="10696398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559"/>
              </a:lnSpc>
            </a:pPr>
            <a:r>
              <a:rPr lang="en-US" sz="8799" b="1" spc="-175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Vamos se Conectar?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49460" y="7451790"/>
            <a:ext cx="6172199" cy="32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8"/>
              </a:lnSpc>
              <a:spcBef>
                <a:spcPct val="0"/>
              </a:spcBef>
            </a:pPr>
            <a:r>
              <a:rPr lang="en-US" sz="2240" b="1" spc="-44" dirty="0">
                <a:solidFill>
                  <a:srgbClr val="53515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https://www.linkedin.com/in/vitoriadelimaboin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52600" y="7383601"/>
            <a:ext cx="5775133" cy="329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88"/>
              </a:lnSpc>
              <a:spcBef>
                <a:spcPct val="0"/>
              </a:spcBef>
            </a:pPr>
            <a:r>
              <a:rPr lang="en-US" sz="2240" b="1" spc="-44" dirty="0">
                <a:solidFill>
                  <a:srgbClr val="53515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https://www.linkedin.com/in/laysa-gomes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0" cy="10384841"/>
            <a:chOff x="0" y="0"/>
            <a:chExt cx="6350000" cy="64103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410396"/>
            </a:xfrm>
            <a:custGeom>
              <a:avLst/>
              <a:gdLst/>
              <a:ahLst/>
              <a:cxnLst/>
              <a:rect l="l" t="t" r="r" b="b"/>
              <a:pathLst>
                <a:path w="6350000" h="6410396">
                  <a:moveTo>
                    <a:pt x="6350000" y="6410396"/>
                  </a:moveTo>
                  <a:lnTo>
                    <a:pt x="0" y="6410396"/>
                  </a:lnTo>
                  <a:lnTo>
                    <a:pt x="0" y="0"/>
                  </a:lnTo>
                  <a:lnTo>
                    <a:pt x="6350000" y="64103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2765432"/>
            <a:ext cx="3767019" cy="7513339"/>
            <a:chOff x="0" y="0"/>
            <a:chExt cx="5022691" cy="10017785"/>
          </a:xfrm>
        </p:grpSpPr>
        <p:sp>
          <p:nvSpPr>
            <p:cNvPr id="5" name="Freeform 5"/>
            <p:cNvSpPr/>
            <p:nvPr/>
          </p:nvSpPr>
          <p:spPr>
            <a:xfrm rot="-10800000" flipH="1">
              <a:off x="0" y="0"/>
              <a:ext cx="5022691" cy="5022691"/>
            </a:xfrm>
            <a:custGeom>
              <a:avLst/>
              <a:gdLst/>
              <a:ahLst/>
              <a:cxnLst/>
              <a:rect l="l" t="t" r="r" b="b"/>
              <a:pathLst>
                <a:path w="5022691" h="5022691">
                  <a:moveTo>
                    <a:pt x="5022691" y="0"/>
                  </a:moveTo>
                  <a:lnTo>
                    <a:pt x="0" y="0"/>
                  </a:lnTo>
                  <a:lnTo>
                    <a:pt x="0" y="5022691"/>
                  </a:lnTo>
                  <a:lnTo>
                    <a:pt x="5022691" y="5022691"/>
                  </a:lnTo>
                  <a:lnTo>
                    <a:pt x="5022691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Freeform 6"/>
            <p:cNvSpPr/>
            <p:nvPr/>
          </p:nvSpPr>
          <p:spPr>
            <a:xfrm rot="-10800000" flipH="1" flipV="1">
              <a:off x="0" y="4995093"/>
              <a:ext cx="5022691" cy="5022691"/>
            </a:xfrm>
            <a:custGeom>
              <a:avLst/>
              <a:gdLst/>
              <a:ahLst/>
              <a:cxnLst/>
              <a:rect l="l" t="t" r="r" b="b"/>
              <a:pathLst>
                <a:path w="5022691" h="5022691">
                  <a:moveTo>
                    <a:pt x="5022691" y="5022692"/>
                  </a:moveTo>
                  <a:lnTo>
                    <a:pt x="0" y="5022692"/>
                  </a:lnTo>
                  <a:lnTo>
                    <a:pt x="0" y="0"/>
                  </a:lnTo>
                  <a:lnTo>
                    <a:pt x="5022691" y="0"/>
                  </a:lnTo>
                  <a:lnTo>
                    <a:pt x="5022691" y="5022692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360320" y="2765432"/>
            <a:ext cx="9292583" cy="19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599"/>
              </a:lnSpc>
              <a:spcBef>
                <a:spcPct val="0"/>
              </a:spcBef>
            </a:pPr>
            <a:r>
              <a:rPr lang="en-US" sz="12999" b="1">
                <a:solidFill>
                  <a:srgbClr val="FFD034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Obrigada!</a:t>
            </a:r>
          </a:p>
        </p:txBody>
      </p:sp>
      <p:grpSp>
        <p:nvGrpSpPr>
          <p:cNvPr id="8" name="Group 8"/>
          <p:cNvGrpSpPr/>
          <p:nvPr/>
        </p:nvGrpSpPr>
        <p:grpSpPr>
          <a:xfrm rot="-4254761">
            <a:off x="9898386" y="3820758"/>
            <a:ext cx="9609403" cy="9594028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FFD034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1740</Words>
  <Application>Microsoft Office PowerPoint</Application>
  <PresentationFormat>Personalizar</PresentationFormat>
  <Paragraphs>153</Paragraphs>
  <Slides>29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9" baseType="lpstr">
      <vt:lpstr>Libre Franklin Bold</vt:lpstr>
      <vt:lpstr>HK Grotesk</vt:lpstr>
      <vt:lpstr>HK Grotesk Bold</vt:lpstr>
      <vt:lpstr>Libre Franklin</vt:lpstr>
      <vt:lpstr>Arial</vt:lpstr>
      <vt:lpstr>HK Grotesk Bold Italics</vt:lpstr>
      <vt:lpstr>HK Grotesk Light</vt:lpstr>
      <vt:lpstr>Open Sauce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Oficina PowerBI</dc:title>
  <cp:lastModifiedBy>Vitória De Lima Boin</cp:lastModifiedBy>
  <cp:revision>2</cp:revision>
  <dcterms:created xsi:type="dcterms:W3CDTF">2006-08-16T00:00:00Z</dcterms:created>
  <dcterms:modified xsi:type="dcterms:W3CDTF">2026-10-01T22:39:31Z</dcterms:modified>
  <dc:identifier>DAHVenZ7syQ</dc:identifier>
</cp:coreProperties>
</file>